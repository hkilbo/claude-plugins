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0696575" cy="7562850"/>
  <p:notesSz cx="7562850" cy="106965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원본 양식 그대로 우측 연녹색 면(#EEF8E0), 좌측 세로 로고, 제목 30pt 굵게, 상하 실선 사이에 배치합니다. 메타는 부서 ㅣ 날짜.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CONTENTS. 32pt 일반, 아래 257px 실선. 목록은 18pt 굵게, 대분류는 로마숫자, 소분류는 들여쓰기.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 구분 간지. 32pt 굵게, 좌측 320px·상단 307px 고정. 다른 요소를 넣지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총괄경영손익. 제목 25pt 굵게 좌측 46·상단 13. 표 헤더는 녹색 #215732 흰 글자, 단위는 표 좌상단에 표기합니다.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주요사업 리뷰. 잘한 점·미흡한 점·시사점 3열 구조를 유지합니다. 사업은 한 장에 5건까지.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환경 분석. 좌측 거시환경(PEST), 우측 3C. 각 영역 제목은 15pt 굵게, 위에 실선을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SWOT. 3×3 교차표로 읽습니다. 위쪽 행에 내부 환경(S·W), 왼쪽 열에 외부 환경(O·T)을 두고 교차 칸에 SO·WO·ST·WT 전략을 적습니다. 라벨 앞 색 원은 강점 파랑·약점 연두·기회 노랑·위협 빨강 고정, 핵심 항목만 빨강 굵게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전략방향. 좌측 화살표 블록에 전략방향, 우측 박스에 주요내용. 방향은 3개까지.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전략맵. 좌측 관점 라벨(#215732) 기준으로 위에서 아래로 재무 → 고객 → 전략주제 → 프로세스 → 학습성장 순으로 읽습니다. 전략주제 3개와 프로세스 3열은 같은 그리드에 정렬하고, 밴드 사이 화살표로 인과 방향을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&amp; Target. 관점·전략목표·KPI명·단위·추정·목표·증감·비고 8열 고정. 우상단 Link 표기를 유지합니다.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실행과제. 전략목표·KPI명·목표치·BSC 과제·담당자·일정 6열. 과제는 문장형으로, 일정은 월 단위로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BSC 과제 카드. 과제 1건당 한 장. 상단 6개 항목(전략 목표·KPI·과제명·추진 담당·측정 지표·달성 목표), 중단 3개 서술 항목, 하단 월별 추진 일정. 제목 문구 없이 타이틀 실선과 로고만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구성비 차트 서식. 원형과 도넛 중 하나만 씁니다. 조각은 5개까지, 색은 진녹·녹·연녹·회녹 순으로 큰 항목부터 배정합니다. 값은 흰 글자로 조각 안에 넣고 단위와 기준 시점을 하단에 표기합니다.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추이 차트 서식. 막대는 단일 계열, 꺾은선은 3계열까지. 강조 계열만 진녹으로 두고 나머지는 회녹·회색으로 눌러 표현합니다. 축 단위와 자료 출처를 반드시 표기합니다.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별첨 정의서. 제목은 27pt, 우상단 BACK 표기. 전략목표 정의서와 KPI 정의서 모두 이 서식을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대안형. 이미지를 쓰는 보고서에 사용합니다. 표지는 기본형과 대안형 중 하나만 남기고 다른 하나는 삭제합니다. 좌상단 세로 로고, 제목 40pt 굵게, 메타는 한국일보 ㅣ 부문 ㅣ 작성자, 우하단 녹색 블록과 좌측 연녹 밴드는 위치를 바꾸지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원본 양식과 동일하게 중앙에 세로 로고만 둡니다. 새 정보를 넣지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3125" y="0"/>
            <a:ext cx="8553450" cy="7562850"/>
          </a:xfrm>
          <a:prstGeom prst="rect">
            <a:avLst/>
          </a:prstGeom>
          <a:solidFill>
            <a:srgbClr val="EEF8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925" y="885825"/>
            <a:ext cx="1009650" cy="19526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19375" y="885825"/>
            <a:ext cx="7439025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619375" y="1133475"/>
            <a:ext cx="798385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887"/>
              </a:lnSpc>
              <a:buNone/>
            </a:pPr>
            <a:r>
              <a:rPr lang="en-US" sz="3000" b="1" spc="-6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2016년 미디어사업팀 BSC 계획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619375" y="1952625"/>
            <a:ext cx="7439025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2619375" y="2019300"/>
            <a:ext cx="81829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미디어사업팀 ㅣ 2015년 10월 16일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3125" y="0"/>
            <a:ext cx="8553450" cy="7562850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3" name="Text 1"/>
          <p:cNvSpPr/>
          <p:nvPr/>
        </p:nvSpPr>
        <p:spPr>
          <a:xfrm>
            <a:off x="2819400" y="1476375"/>
            <a:ext cx="2348106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25" spc="65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25" dirty="0"/>
          </a:p>
        </p:txBody>
      </p:sp>
      <p:sp>
        <p:nvSpPr>
          <p:cNvPr id="4" name="Shape 2"/>
          <p:cNvSpPr/>
          <p:nvPr/>
        </p:nvSpPr>
        <p:spPr>
          <a:xfrm>
            <a:off x="2981325" y="2076450"/>
            <a:ext cx="2447925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867025" y="2190750"/>
            <a:ext cx="5886450" cy="460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Ⅰ. 2015년도 경영성과 리뷰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90875" y="2613645"/>
            <a:ext cx="5562600" cy="425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96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총괄경영손익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190875" y="3001268"/>
            <a:ext cx="5562600" cy="425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96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주요사업 리뷰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867025" y="3503191"/>
            <a:ext cx="5886450" cy="460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Ⅱ. 2016년도 BSC 사업계획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90875" y="3926086"/>
            <a:ext cx="5562600" cy="425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96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환경분석 · SWOT 분석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190875" y="4313709"/>
            <a:ext cx="5562600" cy="425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96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전략방향 · 전략맵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190875" y="4701332"/>
            <a:ext cx="5562600" cy="425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96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KPI &amp; Target · 실행과제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3125" y="0"/>
            <a:ext cx="8553450" cy="7562850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0" y="2924175"/>
            <a:ext cx="6213158" cy="570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17"/>
              </a:lnSpc>
              <a:buNone/>
            </a:pPr>
            <a:r>
              <a:rPr lang="en-US" sz="32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Ⅰ. 2015년도 경영성과 리뷰</a:t>
            </a:r>
            <a:endParaRPr lang="en-US" sz="32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75" y="133350"/>
            <a:ext cx="419100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7650" y="876300"/>
            <a:ext cx="10201275" cy="9525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" name="Text 1"/>
          <p:cNvSpPr/>
          <p:nvPr/>
        </p:nvSpPr>
        <p:spPr>
          <a:xfrm>
            <a:off x="438150" y="123825"/>
            <a:ext cx="961453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spc="-49" kern="0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2015년도 경영성과 리뷰 _ ① 총괄경영손익</a:t>
            </a:r>
            <a:endParaRPr lang="en-US" sz="2475" dirty="0"/>
          </a:p>
        </p:txBody>
      </p:sp>
      <p:sp>
        <p:nvSpPr>
          <p:cNvPr id="5" name="Text 2"/>
          <p:cNvSpPr/>
          <p:nvPr/>
        </p:nvSpPr>
        <p:spPr>
          <a:xfrm>
            <a:off x="552450" y="1428750"/>
            <a:ext cx="105403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 단위 : 억원 )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552450" y="1676400"/>
            <a:ext cx="9582150" cy="582811"/>
          </a:xfrm>
          <a:prstGeom prst="rect">
            <a:avLst/>
          </a:prstGeom>
          <a:solidFill>
            <a:srgbClr val="215732"/>
          </a:solidFill>
          <a:ln/>
        </p:spPr>
      </p:sp>
      <p:sp>
        <p:nvSpPr>
          <p:cNvPr id="7" name="Shape 4"/>
          <p:cNvSpPr/>
          <p:nvPr/>
        </p:nvSpPr>
        <p:spPr>
          <a:xfrm>
            <a:off x="1971675" y="1676400"/>
            <a:ext cx="9525" cy="5828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762125"/>
            <a:ext cx="138112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46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95625" y="1676400"/>
            <a:ext cx="9525" cy="5828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2000250" y="1762125"/>
            <a:ext cx="107632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46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2014년 실적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19575" y="1676400"/>
            <a:ext cx="9525" cy="5828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3124200" y="1762125"/>
            <a:ext cx="107632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46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2015년 목표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43525" y="1676400"/>
            <a:ext cx="9525" cy="5828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248150" y="1762125"/>
            <a:ext cx="107632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46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1~9월 실적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67475" y="1676400"/>
            <a:ext cx="9525" cy="5828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372100" y="1762125"/>
            <a:ext cx="107632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46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10~12월 (E)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81875" y="1676400"/>
            <a:ext cx="9525" cy="5828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496050" y="1762125"/>
            <a:ext cx="8667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46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96275" y="1676400"/>
            <a:ext cx="9525" cy="5828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7410450" y="1762125"/>
            <a:ext cx="8667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46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목표대비 금액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210675" y="1676400"/>
            <a:ext cx="9525" cy="5828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8324850" y="1762125"/>
            <a:ext cx="86677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46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목표대비 %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239250" y="1762125"/>
            <a:ext cx="87630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46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전년대비 %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52450" y="3635573"/>
            <a:ext cx="95821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Shape 22"/>
          <p:cNvSpPr/>
          <p:nvPr/>
        </p:nvSpPr>
        <p:spPr>
          <a:xfrm>
            <a:off x="552450" y="2259211"/>
            <a:ext cx="9525" cy="13858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6" name="Shape 23"/>
          <p:cNvSpPr/>
          <p:nvPr/>
        </p:nvSpPr>
        <p:spPr>
          <a:xfrm>
            <a:off x="10125075" y="2259211"/>
            <a:ext cx="9525" cy="13858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7" name="Shape 24"/>
          <p:cNvSpPr/>
          <p:nvPr/>
        </p:nvSpPr>
        <p:spPr>
          <a:xfrm>
            <a:off x="561975" y="2711648"/>
            <a:ext cx="1428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8" name="Shape 25"/>
          <p:cNvSpPr/>
          <p:nvPr/>
        </p:nvSpPr>
        <p:spPr>
          <a:xfrm>
            <a:off x="1981200" y="2259211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6"/>
          <p:cNvSpPr/>
          <p:nvPr/>
        </p:nvSpPr>
        <p:spPr>
          <a:xfrm>
            <a:off x="695325" y="2383036"/>
            <a:ext cx="13049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출 액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990725" y="2711648"/>
            <a:ext cx="11239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1" name="Shape 28"/>
          <p:cNvSpPr/>
          <p:nvPr/>
        </p:nvSpPr>
        <p:spPr>
          <a:xfrm>
            <a:off x="3105150" y="2259211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2" name="Text 29"/>
          <p:cNvSpPr/>
          <p:nvPr/>
        </p:nvSpPr>
        <p:spPr>
          <a:xfrm>
            <a:off x="2009775" y="2383036"/>
            <a:ext cx="10763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114675" y="2711648"/>
            <a:ext cx="11239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4" name="Shape 31"/>
          <p:cNvSpPr/>
          <p:nvPr/>
        </p:nvSpPr>
        <p:spPr>
          <a:xfrm>
            <a:off x="4229100" y="2259211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5" name="Text 32"/>
          <p:cNvSpPr/>
          <p:nvPr/>
        </p:nvSpPr>
        <p:spPr>
          <a:xfrm>
            <a:off x="3133725" y="2383036"/>
            <a:ext cx="10763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238625" y="2711648"/>
            <a:ext cx="11239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7" name="Shape 34"/>
          <p:cNvSpPr/>
          <p:nvPr/>
        </p:nvSpPr>
        <p:spPr>
          <a:xfrm>
            <a:off x="5353050" y="2259211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8" name="Text 35"/>
          <p:cNvSpPr/>
          <p:nvPr/>
        </p:nvSpPr>
        <p:spPr>
          <a:xfrm>
            <a:off x="4257675" y="2383036"/>
            <a:ext cx="10763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362575" y="2711648"/>
            <a:ext cx="11239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0" name="Shape 37"/>
          <p:cNvSpPr/>
          <p:nvPr/>
        </p:nvSpPr>
        <p:spPr>
          <a:xfrm>
            <a:off x="6477000" y="2259211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1" name="Text 38"/>
          <p:cNvSpPr/>
          <p:nvPr/>
        </p:nvSpPr>
        <p:spPr>
          <a:xfrm>
            <a:off x="5381625" y="2383036"/>
            <a:ext cx="10763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86525" y="2711648"/>
            <a:ext cx="9144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3" name="Shape 40"/>
          <p:cNvSpPr/>
          <p:nvPr/>
        </p:nvSpPr>
        <p:spPr>
          <a:xfrm>
            <a:off x="7391400" y="2259211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4" name="Text 41"/>
          <p:cNvSpPr/>
          <p:nvPr/>
        </p:nvSpPr>
        <p:spPr>
          <a:xfrm>
            <a:off x="6505575" y="2383036"/>
            <a:ext cx="86677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400925" y="2711648"/>
            <a:ext cx="9144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6" name="Shape 43"/>
          <p:cNvSpPr/>
          <p:nvPr/>
        </p:nvSpPr>
        <p:spPr>
          <a:xfrm>
            <a:off x="8305800" y="2259211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7" name="Text 44"/>
          <p:cNvSpPr/>
          <p:nvPr/>
        </p:nvSpPr>
        <p:spPr>
          <a:xfrm>
            <a:off x="7419975" y="2383036"/>
            <a:ext cx="86677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8315325" y="2711648"/>
            <a:ext cx="9144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9" name="Shape 46"/>
          <p:cNvSpPr/>
          <p:nvPr/>
        </p:nvSpPr>
        <p:spPr>
          <a:xfrm>
            <a:off x="9220200" y="2259211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0" name="Text 47"/>
          <p:cNvSpPr/>
          <p:nvPr/>
        </p:nvSpPr>
        <p:spPr>
          <a:xfrm>
            <a:off x="8334375" y="2383036"/>
            <a:ext cx="86677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000%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9229725" y="2711648"/>
            <a:ext cx="9144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2" name="Text 49"/>
          <p:cNvSpPr/>
          <p:nvPr/>
        </p:nvSpPr>
        <p:spPr>
          <a:xfrm>
            <a:off x="9248775" y="2383036"/>
            <a:ext cx="876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000%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61975" y="3173611"/>
            <a:ext cx="1428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4" name="Shape 51"/>
          <p:cNvSpPr/>
          <p:nvPr/>
        </p:nvSpPr>
        <p:spPr>
          <a:xfrm>
            <a:off x="1981200" y="2721173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5" name="Text 52"/>
          <p:cNvSpPr/>
          <p:nvPr/>
        </p:nvSpPr>
        <p:spPr>
          <a:xfrm>
            <a:off x="695325" y="2844998"/>
            <a:ext cx="13049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1990725" y="3173611"/>
            <a:ext cx="11239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7" name="Shape 54"/>
          <p:cNvSpPr/>
          <p:nvPr/>
        </p:nvSpPr>
        <p:spPr>
          <a:xfrm>
            <a:off x="3105150" y="2721173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8" name="Text 55"/>
          <p:cNvSpPr/>
          <p:nvPr/>
        </p:nvSpPr>
        <p:spPr>
          <a:xfrm>
            <a:off x="2009775" y="2844998"/>
            <a:ext cx="10763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3114675" y="3173611"/>
            <a:ext cx="11239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0" name="Shape 57"/>
          <p:cNvSpPr/>
          <p:nvPr/>
        </p:nvSpPr>
        <p:spPr>
          <a:xfrm>
            <a:off x="4229100" y="2721173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1" name="Text 58"/>
          <p:cNvSpPr/>
          <p:nvPr/>
        </p:nvSpPr>
        <p:spPr>
          <a:xfrm>
            <a:off x="3133725" y="2844998"/>
            <a:ext cx="10763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4238625" y="3173611"/>
            <a:ext cx="11239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3" name="Shape 60"/>
          <p:cNvSpPr/>
          <p:nvPr/>
        </p:nvSpPr>
        <p:spPr>
          <a:xfrm>
            <a:off x="5353050" y="2721173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4" name="Text 61"/>
          <p:cNvSpPr/>
          <p:nvPr/>
        </p:nvSpPr>
        <p:spPr>
          <a:xfrm>
            <a:off x="4257675" y="2844998"/>
            <a:ext cx="10763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5362575" y="3173611"/>
            <a:ext cx="11239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6" name="Shape 63"/>
          <p:cNvSpPr/>
          <p:nvPr/>
        </p:nvSpPr>
        <p:spPr>
          <a:xfrm>
            <a:off x="6477000" y="2721173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7" name="Text 64"/>
          <p:cNvSpPr/>
          <p:nvPr/>
        </p:nvSpPr>
        <p:spPr>
          <a:xfrm>
            <a:off x="5381625" y="2844998"/>
            <a:ext cx="10763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6486525" y="3173611"/>
            <a:ext cx="9144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9" name="Shape 66"/>
          <p:cNvSpPr/>
          <p:nvPr/>
        </p:nvSpPr>
        <p:spPr>
          <a:xfrm>
            <a:off x="7391400" y="2721173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0" name="Text 67"/>
          <p:cNvSpPr/>
          <p:nvPr/>
        </p:nvSpPr>
        <p:spPr>
          <a:xfrm>
            <a:off x="6505575" y="2844998"/>
            <a:ext cx="86677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7400925" y="3173611"/>
            <a:ext cx="9144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2" name="Shape 69"/>
          <p:cNvSpPr/>
          <p:nvPr/>
        </p:nvSpPr>
        <p:spPr>
          <a:xfrm>
            <a:off x="8305800" y="2721173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3" name="Text 70"/>
          <p:cNvSpPr/>
          <p:nvPr/>
        </p:nvSpPr>
        <p:spPr>
          <a:xfrm>
            <a:off x="7419975" y="2844998"/>
            <a:ext cx="86677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8315325" y="3173611"/>
            <a:ext cx="9144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5" name="Shape 72"/>
          <p:cNvSpPr/>
          <p:nvPr/>
        </p:nvSpPr>
        <p:spPr>
          <a:xfrm>
            <a:off x="9220200" y="2721173"/>
            <a:ext cx="9525" cy="4619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6" name="Text 73"/>
          <p:cNvSpPr/>
          <p:nvPr/>
        </p:nvSpPr>
        <p:spPr>
          <a:xfrm>
            <a:off x="8334375" y="2844998"/>
            <a:ext cx="86677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000%</a:t>
            </a:r>
            <a:endParaRPr lang="en-US" sz="1200" dirty="0"/>
          </a:p>
        </p:txBody>
      </p:sp>
      <p:sp>
        <p:nvSpPr>
          <p:cNvPr id="77" name="Shape 74"/>
          <p:cNvSpPr/>
          <p:nvPr/>
        </p:nvSpPr>
        <p:spPr>
          <a:xfrm>
            <a:off x="9229725" y="3173611"/>
            <a:ext cx="9144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8" name="Text 75"/>
          <p:cNvSpPr/>
          <p:nvPr/>
        </p:nvSpPr>
        <p:spPr>
          <a:xfrm>
            <a:off x="9248775" y="2844998"/>
            <a:ext cx="876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000%</a:t>
            </a:r>
            <a:endParaRPr lang="en-US" sz="1200" dirty="0"/>
          </a:p>
        </p:txBody>
      </p:sp>
      <p:sp>
        <p:nvSpPr>
          <p:cNvPr id="79" name="Shape 76"/>
          <p:cNvSpPr/>
          <p:nvPr/>
        </p:nvSpPr>
        <p:spPr>
          <a:xfrm>
            <a:off x="1981200" y="3183136"/>
            <a:ext cx="9525" cy="45243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0" name="Text 77"/>
          <p:cNvSpPr/>
          <p:nvPr/>
        </p:nvSpPr>
        <p:spPr>
          <a:xfrm>
            <a:off x="695325" y="3306961"/>
            <a:ext cx="13049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경상이익</a:t>
            </a:r>
            <a:endParaRPr lang="en-US" sz="1200" dirty="0"/>
          </a:p>
        </p:txBody>
      </p:sp>
      <p:sp>
        <p:nvSpPr>
          <p:cNvPr id="81" name="Shape 78"/>
          <p:cNvSpPr/>
          <p:nvPr/>
        </p:nvSpPr>
        <p:spPr>
          <a:xfrm>
            <a:off x="3105150" y="3183136"/>
            <a:ext cx="9525" cy="45243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2" name="Text 79"/>
          <p:cNvSpPr/>
          <p:nvPr/>
        </p:nvSpPr>
        <p:spPr>
          <a:xfrm>
            <a:off x="2009775" y="3306961"/>
            <a:ext cx="10763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4229100" y="3183136"/>
            <a:ext cx="9525" cy="45243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4" name="Text 81"/>
          <p:cNvSpPr/>
          <p:nvPr/>
        </p:nvSpPr>
        <p:spPr>
          <a:xfrm>
            <a:off x="3133725" y="3306961"/>
            <a:ext cx="10763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85" name="Shape 82"/>
          <p:cNvSpPr/>
          <p:nvPr/>
        </p:nvSpPr>
        <p:spPr>
          <a:xfrm>
            <a:off x="5353050" y="3183136"/>
            <a:ext cx="9525" cy="45243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6" name="Text 83"/>
          <p:cNvSpPr/>
          <p:nvPr/>
        </p:nvSpPr>
        <p:spPr>
          <a:xfrm>
            <a:off x="4257675" y="3306961"/>
            <a:ext cx="10763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87" name="Shape 84"/>
          <p:cNvSpPr/>
          <p:nvPr/>
        </p:nvSpPr>
        <p:spPr>
          <a:xfrm>
            <a:off x="6477000" y="3183136"/>
            <a:ext cx="9525" cy="45243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8" name="Text 85"/>
          <p:cNvSpPr/>
          <p:nvPr/>
        </p:nvSpPr>
        <p:spPr>
          <a:xfrm>
            <a:off x="5381625" y="3306961"/>
            <a:ext cx="10763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89" name="Shape 86"/>
          <p:cNvSpPr/>
          <p:nvPr/>
        </p:nvSpPr>
        <p:spPr>
          <a:xfrm>
            <a:off x="7391400" y="3183136"/>
            <a:ext cx="9525" cy="45243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0" name="Text 87"/>
          <p:cNvSpPr/>
          <p:nvPr/>
        </p:nvSpPr>
        <p:spPr>
          <a:xfrm>
            <a:off x="6505575" y="3306961"/>
            <a:ext cx="86677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200" dirty="0"/>
          </a:p>
        </p:txBody>
      </p:sp>
      <p:sp>
        <p:nvSpPr>
          <p:cNvPr id="91" name="Shape 88"/>
          <p:cNvSpPr/>
          <p:nvPr/>
        </p:nvSpPr>
        <p:spPr>
          <a:xfrm>
            <a:off x="8305800" y="3183136"/>
            <a:ext cx="9525" cy="45243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2" name="Text 89"/>
          <p:cNvSpPr/>
          <p:nvPr/>
        </p:nvSpPr>
        <p:spPr>
          <a:xfrm>
            <a:off x="7419975" y="3306961"/>
            <a:ext cx="86677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</a:t>
            </a:r>
            <a:endParaRPr lang="en-US" sz="1200" dirty="0"/>
          </a:p>
        </p:txBody>
      </p:sp>
      <p:sp>
        <p:nvSpPr>
          <p:cNvPr id="93" name="Shape 90"/>
          <p:cNvSpPr/>
          <p:nvPr/>
        </p:nvSpPr>
        <p:spPr>
          <a:xfrm>
            <a:off x="9220200" y="3183136"/>
            <a:ext cx="9525" cy="45243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4" name="Text 91"/>
          <p:cNvSpPr/>
          <p:nvPr/>
        </p:nvSpPr>
        <p:spPr>
          <a:xfrm>
            <a:off x="8334375" y="3306961"/>
            <a:ext cx="86677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000%</a:t>
            </a:r>
            <a:endParaRPr lang="en-US" sz="1200" dirty="0"/>
          </a:p>
        </p:txBody>
      </p:sp>
      <p:sp>
        <p:nvSpPr>
          <p:cNvPr id="95" name="Text 92"/>
          <p:cNvSpPr/>
          <p:nvPr/>
        </p:nvSpPr>
        <p:spPr>
          <a:xfrm>
            <a:off x="9248775" y="3306961"/>
            <a:ext cx="876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000%</a:t>
            </a:r>
            <a:endParaRPr lang="en-US" sz="1200" dirty="0"/>
          </a:p>
        </p:txBody>
      </p:sp>
      <p:sp>
        <p:nvSpPr>
          <p:cNvPr id="96" name="Text 93"/>
          <p:cNvSpPr/>
          <p:nvPr/>
        </p:nvSpPr>
        <p:spPr>
          <a:xfrm>
            <a:off x="3448050" y="4476750"/>
            <a:ext cx="516045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장표로 사업별 매출액 및 영업이익 현황을 함께 넣고, 그 합계가 이 장표가 되도록 작성합니다. 규모가 작은 사업은 기타로 합산합니다.</a:t>
            </a:r>
            <a:endParaRPr lang="en-US" sz="1500" dirty="0"/>
          </a:p>
        </p:txBody>
      </p:sp>
      <p:sp>
        <p:nvSpPr>
          <p:cNvPr id="97" name="Text 94"/>
          <p:cNvSpPr/>
          <p:nvPr/>
        </p:nvSpPr>
        <p:spPr>
          <a:xfrm>
            <a:off x="10041136" y="7110413"/>
            <a:ext cx="16013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75" y="133350"/>
            <a:ext cx="419100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7650" y="876300"/>
            <a:ext cx="10201275" cy="9525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" name="Text 1"/>
          <p:cNvSpPr/>
          <p:nvPr/>
        </p:nvSpPr>
        <p:spPr>
          <a:xfrm>
            <a:off x="438150" y="123825"/>
            <a:ext cx="961453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spc="-49" kern="0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2015년도 경영성과 리뷰 _ ② 주요사업 리뷰</a:t>
            </a:r>
            <a:endParaRPr lang="en-US" sz="2475" dirty="0"/>
          </a:p>
        </p:txBody>
      </p:sp>
      <p:sp>
        <p:nvSpPr>
          <p:cNvPr id="5" name="Shape 2"/>
          <p:cNvSpPr/>
          <p:nvPr/>
        </p:nvSpPr>
        <p:spPr>
          <a:xfrm>
            <a:off x="552450" y="1333500"/>
            <a:ext cx="9582150" cy="376238"/>
          </a:xfrm>
          <a:prstGeom prst="rect">
            <a:avLst/>
          </a:prstGeom>
          <a:solidFill>
            <a:srgbClr val="215732"/>
          </a:solidFill>
          <a:ln/>
        </p:spPr>
      </p:sp>
      <p:sp>
        <p:nvSpPr>
          <p:cNvPr id="6" name="Shape 3"/>
          <p:cNvSpPr/>
          <p:nvPr/>
        </p:nvSpPr>
        <p:spPr>
          <a:xfrm>
            <a:off x="981075" y="1333500"/>
            <a:ext cx="9525" cy="3762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552450" y="1419225"/>
            <a:ext cx="4286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09825" y="1333500"/>
            <a:ext cx="9525" cy="3762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009650" y="1419225"/>
            <a:ext cx="13811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구분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81575" y="1333500"/>
            <a:ext cx="9525" cy="3762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2437924" y="1419225"/>
            <a:ext cx="252507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2015년 Review · 잘한 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553325" y="1333500"/>
            <a:ext cx="9525" cy="3762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5009674" y="1419225"/>
            <a:ext cx="252507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미흡한 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81424" y="1419225"/>
            <a:ext cx="253460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2450" y="3557588"/>
            <a:ext cx="95821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6" name="Shape 13"/>
          <p:cNvSpPr/>
          <p:nvPr/>
        </p:nvSpPr>
        <p:spPr>
          <a:xfrm>
            <a:off x="552450" y="1709738"/>
            <a:ext cx="9525" cy="185737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7" name="Shape 14"/>
          <p:cNvSpPr/>
          <p:nvPr/>
        </p:nvSpPr>
        <p:spPr>
          <a:xfrm>
            <a:off x="10125075" y="1709738"/>
            <a:ext cx="9525" cy="185737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Shape 15"/>
          <p:cNvSpPr/>
          <p:nvPr/>
        </p:nvSpPr>
        <p:spPr>
          <a:xfrm>
            <a:off x="561975" y="2395538"/>
            <a:ext cx="4381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9" name="Shape 16"/>
          <p:cNvSpPr/>
          <p:nvPr/>
        </p:nvSpPr>
        <p:spPr>
          <a:xfrm>
            <a:off x="990600" y="1709738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Text 17"/>
          <p:cNvSpPr/>
          <p:nvPr/>
        </p:nvSpPr>
        <p:spPr>
          <a:xfrm>
            <a:off x="561975" y="1824038"/>
            <a:ext cx="4286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1000125" y="2395538"/>
            <a:ext cx="1428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2" name="Shape 19"/>
          <p:cNvSpPr/>
          <p:nvPr/>
        </p:nvSpPr>
        <p:spPr>
          <a:xfrm>
            <a:off x="2419350" y="1709738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3" name="Text 20"/>
          <p:cNvSpPr/>
          <p:nvPr/>
        </p:nvSpPr>
        <p:spPr>
          <a:xfrm>
            <a:off x="1076325" y="1824038"/>
            <a:ext cx="13430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○○○ 대회</a:t>
            </a:r>
            <a:endParaRPr lang="en-US" sz="1125" dirty="0"/>
          </a:p>
        </p:txBody>
      </p:sp>
      <p:sp>
        <p:nvSpPr>
          <p:cNvPr id="24" name="Shape 21"/>
          <p:cNvSpPr/>
          <p:nvPr/>
        </p:nvSpPr>
        <p:spPr>
          <a:xfrm>
            <a:off x="2428875" y="2395538"/>
            <a:ext cx="25653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Shape 22"/>
          <p:cNvSpPr/>
          <p:nvPr/>
        </p:nvSpPr>
        <p:spPr>
          <a:xfrm>
            <a:off x="4984700" y="1709738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6" name="Text 23"/>
          <p:cNvSpPr/>
          <p:nvPr/>
        </p:nvSpPr>
        <p:spPr>
          <a:xfrm>
            <a:off x="2524125" y="1824038"/>
            <a:ext cx="244228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컨텐츠 변화 시도 · 참가 규모 전년 대비 확대</a:t>
            </a:r>
            <a:endParaRPr lang="en-US" sz="1125" dirty="0"/>
          </a:p>
        </p:txBody>
      </p:sp>
      <p:sp>
        <p:nvSpPr>
          <p:cNvPr id="27" name="Shape 24"/>
          <p:cNvSpPr/>
          <p:nvPr/>
        </p:nvSpPr>
        <p:spPr>
          <a:xfrm>
            <a:off x="4994225" y="2395538"/>
            <a:ext cx="25654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8" name="Shape 25"/>
          <p:cNvSpPr/>
          <p:nvPr/>
        </p:nvSpPr>
        <p:spPr>
          <a:xfrm>
            <a:off x="7550125" y="1709738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6"/>
          <p:cNvSpPr/>
          <p:nvPr/>
        </p:nvSpPr>
        <p:spPr>
          <a:xfrm>
            <a:off x="5089475" y="1824038"/>
            <a:ext cx="244236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심사 공정성·투명성 문제 지속 · 지원자 및 대중 관심도 하락</a:t>
            </a:r>
            <a:endParaRPr lang="en-US" sz="1125" dirty="0"/>
          </a:p>
        </p:txBody>
      </p:sp>
      <p:sp>
        <p:nvSpPr>
          <p:cNvPr id="30" name="Shape 27"/>
          <p:cNvSpPr/>
          <p:nvPr/>
        </p:nvSpPr>
        <p:spPr>
          <a:xfrm>
            <a:off x="7559650" y="2395538"/>
            <a:ext cx="25654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1" name="Text 28"/>
          <p:cNvSpPr/>
          <p:nvPr/>
        </p:nvSpPr>
        <p:spPr>
          <a:xfrm>
            <a:off x="7654900" y="1824038"/>
            <a:ext cx="24518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표준화된 심사체계 구축 · 트렌드에 맞는 컨텐츠 개편</a:t>
            </a:r>
            <a:endParaRPr lang="en-US" sz="1125" dirty="0"/>
          </a:p>
        </p:txBody>
      </p:sp>
      <p:sp>
        <p:nvSpPr>
          <p:cNvPr id="32" name="Shape 29"/>
          <p:cNvSpPr/>
          <p:nvPr/>
        </p:nvSpPr>
        <p:spPr>
          <a:xfrm>
            <a:off x="561975" y="3090863"/>
            <a:ext cx="4381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3" name="Shape 30"/>
          <p:cNvSpPr/>
          <p:nvPr/>
        </p:nvSpPr>
        <p:spPr>
          <a:xfrm>
            <a:off x="990600" y="2405063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4" name="Text 31"/>
          <p:cNvSpPr/>
          <p:nvPr/>
        </p:nvSpPr>
        <p:spPr>
          <a:xfrm>
            <a:off x="561975" y="2519363"/>
            <a:ext cx="4286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25" dirty="0"/>
          </a:p>
        </p:txBody>
      </p:sp>
      <p:sp>
        <p:nvSpPr>
          <p:cNvPr id="35" name="Shape 32"/>
          <p:cNvSpPr/>
          <p:nvPr/>
        </p:nvSpPr>
        <p:spPr>
          <a:xfrm>
            <a:off x="1000125" y="3090863"/>
            <a:ext cx="1428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6" name="Shape 33"/>
          <p:cNvSpPr/>
          <p:nvPr/>
        </p:nvSpPr>
        <p:spPr>
          <a:xfrm>
            <a:off x="2419350" y="2405063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7" name="Text 34"/>
          <p:cNvSpPr/>
          <p:nvPr/>
        </p:nvSpPr>
        <p:spPr>
          <a:xfrm>
            <a:off x="1076325" y="2519363"/>
            <a:ext cx="13430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○○○ 마라톤</a:t>
            </a:r>
            <a:endParaRPr lang="en-US" sz="1125" dirty="0"/>
          </a:p>
        </p:txBody>
      </p:sp>
      <p:sp>
        <p:nvSpPr>
          <p:cNvPr id="38" name="Shape 35"/>
          <p:cNvSpPr/>
          <p:nvPr/>
        </p:nvSpPr>
        <p:spPr>
          <a:xfrm>
            <a:off x="2428875" y="3090863"/>
            <a:ext cx="25653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9" name="Shape 36"/>
          <p:cNvSpPr/>
          <p:nvPr/>
        </p:nvSpPr>
        <p:spPr>
          <a:xfrm>
            <a:off x="4984700" y="2405063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0" name="Text 37"/>
          <p:cNvSpPr/>
          <p:nvPr/>
        </p:nvSpPr>
        <p:spPr>
          <a:xfrm>
            <a:off x="2524125" y="2519363"/>
            <a:ext cx="244228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참가팀 수 00팀으로 확대 · 협찬사 0개사 신규 확보</a:t>
            </a:r>
            <a:endParaRPr lang="en-US" sz="1125" dirty="0"/>
          </a:p>
        </p:txBody>
      </p:sp>
      <p:sp>
        <p:nvSpPr>
          <p:cNvPr id="41" name="Shape 38"/>
          <p:cNvSpPr/>
          <p:nvPr/>
        </p:nvSpPr>
        <p:spPr>
          <a:xfrm>
            <a:off x="4994225" y="3090863"/>
            <a:ext cx="25654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2" name="Shape 39"/>
          <p:cNvSpPr/>
          <p:nvPr/>
        </p:nvSpPr>
        <p:spPr>
          <a:xfrm>
            <a:off x="7550125" y="2405063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3" name="Text 40"/>
          <p:cNvSpPr/>
          <p:nvPr/>
        </p:nvSpPr>
        <p:spPr>
          <a:xfrm>
            <a:off x="5089475" y="2519363"/>
            <a:ext cx="244236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현장 운영 인력 부족 · 온라인 홍보 채널 미비</a:t>
            </a:r>
            <a:endParaRPr lang="en-US" sz="1125" dirty="0"/>
          </a:p>
        </p:txBody>
      </p:sp>
      <p:sp>
        <p:nvSpPr>
          <p:cNvPr id="44" name="Shape 41"/>
          <p:cNvSpPr/>
          <p:nvPr/>
        </p:nvSpPr>
        <p:spPr>
          <a:xfrm>
            <a:off x="7559650" y="3090863"/>
            <a:ext cx="25654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5" name="Text 42"/>
          <p:cNvSpPr/>
          <p:nvPr/>
        </p:nvSpPr>
        <p:spPr>
          <a:xfrm>
            <a:off x="7654900" y="2519363"/>
            <a:ext cx="24518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외주 운영 인력 확보 · 참가자 Data-base 구축</a:t>
            </a:r>
            <a:endParaRPr lang="en-US" sz="1125" dirty="0"/>
          </a:p>
        </p:txBody>
      </p:sp>
      <p:sp>
        <p:nvSpPr>
          <p:cNvPr id="46" name="Shape 43"/>
          <p:cNvSpPr/>
          <p:nvPr/>
        </p:nvSpPr>
        <p:spPr>
          <a:xfrm>
            <a:off x="990600" y="3100388"/>
            <a:ext cx="9525" cy="457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7" name="Text 44"/>
          <p:cNvSpPr/>
          <p:nvPr/>
        </p:nvSpPr>
        <p:spPr>
          <a:xfrm>
            <a:off x="561975" y="3214688"/>
            <a:ext cx="4286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25" dirty="0"/>
          </a:p>
        </p:txBody>
      </p:sp>
      <p:sp>
        <p:nvSpPr>
          <p:cNvPr id="48" name="Shape 45"/>
          <p:cNvSpPr/>
          <p:nvPr/>
        </p:nvSpPr>
        <p:spPr>
          <a:xfrm>
            <a:off x="2419350" y="3100388"/>
            <a:ext cx="9525" cy="457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9" name="Text 46"/>
          <p:cNvSpPr/>
          <p:nvPr/>
        </p:nvSpPr>
        <p:spPr>
          <a:xfrm>
            <a:off x="1076325" y="3214688"/>
            <a:ext cx="13430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 설명회</a:t>
            </a:r>
            <a:endParaRPr lang="en-US" sz="1125" dirty="0"/>
          </a:p>
        </p:txBody>
      </p:sp>
      <p:sp>
        <p:nvSpPr>
          <p:cNvPr id="50" name="Shape 47"/>
          <p:cNvSpPr/>
          <p:nvPr/>
        </p:nvSpPr>
        <p:spPr>
          <a:xfrm>
            <a:off x="4984700" y="3100388"/>
            <a:ext cx="9525" cy="457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1" name="Text 48"/>
          <p:cNvSpPr/>
          <p:nvPr/>
        </p:nvSpPr>
        <p:spPr>
          <a:xfrm>
            <a:off x="2524125" y="3214688"/>
            <a:ext cx="24422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고정 참가 기관 확보</a:t>
            </a:r>
            <a:endParaRPr lang="en-US" sz="1125" dirty="0"/>
          </a:p>
        </p:txBody>
      </p:sp>
      <p:sp>
        <p:nvSpPr>
          <p:cNvPr id="52" name="Shape 49"/>
          <p:cNvSpPr/>
          <p:nvPr/>
        </p:nvSpPr>
        <p:spPr>
          <a:xfrm>
            <a:off x="7550125" y="3100388"/>
            <a:ext cx="9525" cy="457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3" name="Text 50"/>
          <p:cNvSpPr/>
          <p:nvPr/>
        </p:nvSpPr>
        <p:spPr>
          <a:xfrm>
            <a:off x="5089475" y="3214688"/>
            <a:ext cx="244236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 참가 기관 유입 정체</a:t>
            </a:r>
            <a:endParaRPr lang="en-US" sz="1125" dirty="0"/>
          </a:p>
        </p:txBody>
      </p:sp>
      <p:sp>
        <p:nvSpPr>
          <p:cNvPr id="54" name="Text 51"/>
          <p:cNvSpPr/>
          <p:nvPr/>
        </p:nvSpPr>
        <p:spPr>
          <a:xfrm>
            <a:off x="7654900" y="3214688"/>
            <a:ext cx="24518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 기관 영입 통한 수익 안정화</a:t>
            </a:r>
            <a:endParaRPr lang="en-US" sz="1125" dirty="0"/>
          </a:p>
        </p:txBody>
      </p:sp>
      <p:sp>
        <p:nvSpPr>
          <p:cNvPr id="55" name="Text 52"/>
          <p:cNvSpPr/>
          <p:nvPr/>
        </p:nvSpPr>
        <p:spPr>
          <a:xfrm>
            <a:off x="10041136" y="7110413"/>
            <a:ext cx="16013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75" y="133350"/>
            <a:ext cx="419100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7650" y="876300"/>
            <a:ext cx="10201275" cy="9525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" name="Text 1"/>
          <p:cNvSpPr/>
          <p:nvPr/>
        </p:nvSpPr>
        <p:spPr>
          <a:xfrm>
            <a:off x="438150" y="123825"/>
            <a:ext cx="961453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spc="-49" kern="0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2016년 환경 분석</a:t>
            </a:r>
            <a:endParaRPr lang="en-US" sz="2475" dirty="0"/>
          </a:p>
        </p:txBody>
      </p:sp>
      <p:sp>
        <p:nvSpPr>
          <p:cNvPr id="5" name="Shape 2"/>
          <p:cNvSpPr/>
          <p:nvPr/>
        </p:nvSpPr>
        <p:spPr>
          <a:xfrm>
            <a:off x="742950" y="1619250"/>
            <a:ext cx="4257675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530066" y="1219200"/>
            <a:ext cx="46834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거시 환경 분석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95925" y="1619250"/>
            <a:ext cx="4371975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5277326" y="1219200"/>
            <a:ext cx="48091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3C 분석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14375" y="1905000"/>
            <a:ext cx="4324350" cy="379095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3900" y="1914525"/>
            <a:ext cx="609600" cy="945356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11" name="Shape 8"/>
          <p:cNvSpPr/>
          <p:nvPr/>
        </p:nvSpPr>
        <p:spPr>
          <a:xfrm>
            <a:off x="723900" y="2850356"/>
            <a:ext cx="6096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" name="Shape 9"/>
          <p:cNvSpPr/>
          <p:nvPr/>
        </p:nvSpPr>
        <p:spPr>
          <a:xfrm>
            <a:off x="1323975" y="1914525"/>
            <a:ext cx="9525" cy="945356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028825"/>
            <a:ext cx="676275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3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333500" y="2850356"/>
            <a:ext cx="36957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5" name="Text 12"/>
          <p:cNvSpPr/>
          <p:nvPr/>
        </p:nvSpPr>
        <p:spPr>
          <a:xfrm>
            <a:off x="1447800" y="2028825"/>
            <a:ext cx="3577971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Political </a:t>
            </a:r>
            <a:pPr algn="l" indent="0" marL="0">
              <a:lnSpc>
                <a:spcPct val="1237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20○○년 정부 문화·체육·관광예산 0.0% 증액 − ’00년 0.0조원 → ’00년 0.0조원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723900" y="2859881"/>
            <a:ext cx="609600" cy="945356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17" name="Shape 14"/>
          <p:cNvSpPr/>
          <p:nvPr/>
        </p:nvSpPr>
        <p:spPr>
          <a:xfrm>
            <a:off x="723900" y="3795713"/>
            <a:ext cx="6096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Shape 15"/>
          <p:cNvSpPr/>
          <p:nvPr/>
        </p:nvSpPr>
        <p:spPr>
          <a:xfrm>
            <a:off x="1323975" y="2859881"/>
            <a:ext cx="9525" cy="945356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2974181"/>
            <a:ext cx="676275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3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333500" y="3795713"/>
            <a:ext cx="36957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1" name="Text 18"/>
          <p:cNvSpPr/>
          <p:nvPr/>
        </p:nvSpPr>
        <p:spPr>
          <a:xfrm>
            <a:off x="1447800" y="2974181"/>
            <a:ext cx="3577971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Economic </a:t>
            </a:r>
            <a:pPr algn="l" indent="0" marL="0">
              <a:lnSpc>
                <a:spcPct val="1237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금리 인상·신흥국 리스크로 실물 경기 불확실성 확대 · 기업 투자심리 위축</a:t>
            </a:r>
            <a:endParaRPr lang="en-US" sz="1125" dirty="0"/>
          </a:p>
        </p:txBody>
      </p:sp>
      <p:sp>
        <p:nvSpPr>
          <p:cNvPr id="22" name="Shape 19"/>
          <p:cNvSpPr/>
          <p:nvPr/>
        </p:nvSpPr>
        <p:spPr>
          <a:xfrm>
            <a:off x="723900" y="3805237"/>
            <a:ext cx="609600" cy="945356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23" name="Shape 20"/>
          <p:cNvSpPr/>
          <p:nvPr/>
        </p:nvSpPr>
        <p:spPr>
          <a:xfrm>
            <a:off x="723900" y="4741069"/>
            <a:ext cx="6096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4" name="Shape 21"/>
          <p:cNvSpPr/>
          <p:nvPr/>
        </p:nvSpPr>
        <p:spPr>
          <a:xfrm>
            <a:off x="1323975" y="3805237"/>
            <a:ext cx="9525" cy="945356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" y="3919537"/>
            <a:ext cx="676275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3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333500" y="4741069"/>
            <a:ext cx="36957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7" name="Text 24"/>
          <p:cNvSpPr/>
          <p:nvPr/>
        </p:nvSpPr>
        <p:spPr>
          <a:xfrm>
            <a:off x="1447800" y="3919537"/>
            <a:ext cx="3577971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Social </a:t>
            </a:r>
            <a:pPr algn="l" indent="0" marL="0">
              <a:lnSpc>
                <a:spcPct val="1237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00대 젊은층의 소비 성향 변화 · 가족 중심 문화 소비 경향 강화</a:t>
            </a:r>
            <a:endParaRPr lang="en-US" sz="1125" dirty="0"/>
          </a:p>
        </p:txBody>
      </p:sp>
      <p:sp>
        <p:nvSpPr>
          <p:cNvPr id="28" name="Shape 25"/>
          <p:cNvSpPr/>
          <p:nvPr/>
        </p:nvSpPr>
        <p:spPr>
          <a:xfrm>
            <a:off x="723900" y="4750594"/>
            <a:ext cx="609600" cy="935831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29" name="Shape 26"/>
          <p:cNvSpPr/>
          <p:nvPr/>
        </p:nvSpPr>
        <p:spPr>
          <a:xfrm>
            <a:off x="1323975" y="4750594"/>
            <a:ext cx="9525" cy="935831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4864894"/>
            <a:ext cx="676275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3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447800" y="4864894"/>
            <a:ext cx="3577971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Technological </a:t>
            </a:r>
            <a:pPr algn="l" indent="0" marL="0">
              <a:lnSpc>
                <a:spcPct val="1237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New Media(온라인·모바일) 이용 확대 · 데이터 기반 광고 효과 측정 요구 증가</a:t>
            </a:r>
            <a:endParaRPr lang="en-US" sz="1125" dirty="0"/>
          </a:p>
        </p:txBody>
      </p:sp>
      <p:sp>
        <p:nvSpPr>
          <p:cNvPr id="32" name="Shape 29"/>
          <p:cNvSpPr/>
          <p:nvPr/>
        </p:nvSpPr>
        <p:spPr>
          <a:xfrm>
            <a:off x="5495925" y="1905000"/>
            <a:ext cx="4371975" cy="1190625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505450" y="1914525"/>
            <a:ext cx="1000125" cy="1171575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34" name="Shape 31"/>
          <p:cNvSpPr/>
          <p:nvPr/>
        </p:nvSpPr>
        <p:spPr>
          <a:xfrm>
            <a:off x="6496050" y="1914525"/>
            <a:ext cx="9525" cy="117157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5" name="Text 32"/>
          <p:cNvSpPr/>
          <p:nvPr/>
        </p:nvSpPr>
        <p:spPr>
          <a:xfrm>
            <a:off x="5467350" y="1914525"/>
            <a:ext cx="1066800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638925" y="2028825"/>
            <a:ext cx="3186684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기존 사업의 고객 Database 확보 통한 STP 정립 · 브랜드 가치 확대 사업과 수익 사업의 이원화 · 신규 사업 확대 및 역량 보완</a:t>
            </a:r>
            <a:endParaRPr lang="en-US" sz="1125" dirty="0"/>
          </a:p>
        </p:txBody>
      </p:sp>
      <p:sp>
        <p:nvSpPr>
          <p:cNvPr id="37" name="Shape 34"/>
          <p:cNvSpPr/>
          <p:nvPr/>
        </p:nvSpPr>
        <p:spPr>
          <a:xfrm>
            <a:off x="5495925" y="3209925"/>
            <a:ext cx="4371975" cy="954881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05450" y="3219450"/>
            <a:ext cx="1000125" cy="935831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39" name="Shape 36"/>
          <p:cNvSpPr/>
          <p:nvPr/>
        </p:nvSpPr>
        <p:spPr>
          <a:xfrm>
            <a:off x="6496050" y="3219450"/>
            <a:ext cx="9525" cy="935831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0" name="Text 37"/>
          <p:cNvSpPr/>
          <p:nvPr/>
        </p:nvSpPr>
        <p:spPr>
          <a:xfrm>
            <a:off x="5467350" y="3219450"/>
            <a:ext cx="1066800" cy="9739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Competitor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638925" y="3333750"/>
            <a:ext cx="3186684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경쟁사 서포터즈 모집 통한 SNS·온라인 채널 홍보 강화 · 대형 민간 캠페인 신규 진행</a:t>
            </a:r>
            <a:endParaRPr lang="en-US" sz="1125" dirty="0"/>
          </a:p>
        </p:txBody>
      </p:sp>
      <p:sp>
        <p:nvSpPr>
          <p:cNvPr id="42" name="Shape 39"/>
          <p:cNvSpPr/>
          <p:nvPr/>
        </p:nvSpPr>
        <p:spPr>
          <a:xfrm>
            <a:off x="5495925" y="4279106"/>
            <a:ext cx="4371975" cy="1426369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505450" y="4288631"/>
            <a:ext cx="1000125" cy="1407319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4" name="Shape 41"/>
          <p:cNvSpPr/>
          <p:nvPr/>
        </p:nvSpPr>
        <p:spPr>
          <a:xfrm>
            <a:off x="6496050" y="4288631"/>
            <a:ext cx="9525" cy="1407319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5" name="Text 42"/>
          <p:cNvSpPr/>
          <p:nvPr/>
        </p:nvSpPr>
        <p:spPr>
          <a:xfrm>
            <a:off x="5467350" y="4288631"/>
            <a:ext cx="1066800" cy="1445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638925" y="4402931"/>
            <a:ext cx="3186684" cy="1216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00대 New Media 선호 → 기업 광고 Needs 증대 · 현재의 Life satisfaction을 중시하는 가치관 변화 → Leisure · Health · Fashion 관심 증가</a:t>
            </a:r>
            <a:endParaRPr lang="en-US" sz="1125" dirty="0"/>
          </a:p>
        </p:txBody>
      </p:sp>
      <p:sp>
        <p:nvSpPr>
          <p:cNvPr id="47" name="Text 44"/>
          <p:cNvSpPr/>
          <p:nvPr/>
        </p:nvSpPr>
        <p:spPr>
          <a:xfrm>
            <a:off x="10041136" y="7110413"/>
            <a:ext cx="16013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75" y="133350"/>
            <a:ext cx="419100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7650" y="876300"/>
            <a:ext cx="10201275" cy="9525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" name="Text 1"/>
          <p:cNvSpPr/>
          <p:nvPr/>
        </p:nvSpPr>
        <p:spPr>
          <a:xfrm>
            <a:off x="438150" y="123825"/>
            <a:ext cx="961453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spc="-49" kern="0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환경 변화에 따른 SWOT 분석</a:t>
            </a:r>
            <a:endParaRPr lang="en-US" sz="2475" dirty="0"/>
          </a:p>
        </p:txBody>
      </p:sp>
      <p:sp>
        <p:nvSpPr>
          <p:cNvPr id="5" name="Shape 2"/>
          <p:cNvSpPr/>
          <p:nvPr/>
        </p:nvSpPr>
        <p:spPr>
          <a:xfrm>
            <a:off x="552450" y="1066800"/>
            <a:ext cx="9582150" cy="6049863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1975" y="1076325"/>
            <a:ext cx="2381250" cy="1830586"/>
          </a:xfrm>
          <a:prstGeom prst="rect">
            <a:avLst/>
          </a:prstGeom>
          <a:solidFill>
            <a:srgbClr val="F5F7F6"/>
          </a:solidFill>
          <a:ln/>
        </p:spPr>
      </p:sp>
      <p:sp>
        <p:nvSpPr>
          <p:cNvPr id="7" name="Shape 4"/>
          <p:cNvSpPr/>
          <p:nvPr/>
        </p:nvSpPr>
        <p:spPr>
          <a:xfrm>
            <a:off x="561975" y="2897386"/>
            <a:ext cx="23812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" name="Shape 5"/>
          <p:cNvSpPr/>
          <p:nvPr/>
        </p:nvSpPr>
        <p:spPr>
          <a:xfrm>
            <a:off x="2933700" y="1076325"/>
            <a:ext cx="9525" cy="1830586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1782961"/>
            <a:ext cx="227361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환경 →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4375" y="2044898"/>
            <a:ext cx="227361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외부 환경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4375" y="2306836"/>
            <a:ext cx="2143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5A66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칸은 두 환경을 조합한 전략입니다.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2943225" y="2897386"/>
            <a:ext cx="36004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Shape 10"/>
          <p:cNvSpPr/>
          <p:nvPr/>
        </p:nvSpPr>
        <p:spPr>
          <a:xfrm>
            <a:off x="6534150" y="1076325"/>
            <a:ext cx="9525" cy="1830586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4" name="Shape 11"/>
          <p:cNvSpPr/>
          <p:nvPr/>
        </p:nvSpPr>
        <p:spPr>
          <a:xfrm>
            <a:off x="2943225" y="1076325"/>
            <a:ext cx="3590925" cy="457200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15" name="Shape 12"/>
          <p:cNvSpPr/>
          <p:nvPr/>
        </p:nvSpPr>
        <p:spPr>
          <a:xfrm>
            <a:off x="2943225" y="1524000"/>
            <a:ext cx="35909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6" name="Shape 13"/>
          <p:cNvSpPr/>
          <p:nvPr/>
        </p:nvSpPr>
        <p:spPr>
          <a:xfrm>
            <a:off x="3114675" y="1223963"/>
            <a:ext cx="152400" cy="152400"/>
          </a:xfrm>
          <a:prstGeom prst="ellipse">
            <a:avLst/>
          </a:prstGeom>
          <a:solidFill>
            <a:srgbClr val="0033CC"/>
          </a:solidFill>
          <a:ln/>
        </p:spPr>
      </p:sp>
      <p:sp>
        <p:nvSpPr>
          <p:cNvPr id="17" name="Text 14"/>
          <p:cNvSpPr/>
          <p:nvPr/>
        </p:nvSpPr>
        <p:spPr>
          <a:xfrm>
            <a:off x="3362325" y="1181100"/>
            <a:ext cx="7337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(S)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3114675" y="1666875"/>
            <a:ext cx="334546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대내외 네트워크 통한 정보력 &amp; 교섭력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114675" y="1941165"/>
            <a:ext cx="334546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행사 진행 경험 및 역량 축적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114675" y="2215455"/>
            <a:ext cx="334546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기사·광고 집행력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114675" y="2489746"/>
            <a:ext cx="334546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사업 전통성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543675" y="2897386"/>
            <a:ext cx="36004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3" name="Shape 20"/>
          <p:cNvSpPr/>
          <p:nvPr/>
        </p:nvSpPr>
        <p:spPr>
          <a:xfrm>
            <a:off x="6543675" y="1076325"/>
            <a:ext cx="3600450" cy="457200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24" name="Shape 21"/>
          <p:cNvSpPr/>
          <p:nvPr/>
        </p:nvSpPr>
        <p:spPr>
          <a:xfrm>
            <a:off x="6543675" y="1524000"/>
            <a:ext cx="36004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Shape 22"/>
          <p:cNvSpPr/>
          <p:nvPr/>
        </p:nvSpPr>
        <p:spPr>
          <a:xfrm>
            <a:off x="6715125" y="1223963"/>
            <a:ext cx="152400" cy="152400"/>
          </a:xfrm>
          <a:prstGeom prst="ellipse">
            <a:avLst/>
          </a:prstGeom>
          <a:solidFill>
            <a:srgbClr val="99CC00"/>
          </a:solidFill>
          <a:ln/>
        </p:spPr>
      </p:sp>
      <p:sp>
        <p:nvSpPr>
          <p:cNvPr id="26" name="Text 23"/>
          <p:cNvSpPr/>
          <p:nvPr/>
        </p:nvSpPr>
        <p:spPr>
          <a:xfrm>
            <a:off x="6962775" y="1181100"/>
            <a:ext cx="8140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(W)</a:t>
            </a:r>
            <a:endParaRPr lang="en-US" sz="1425" dirty="0"/>
          </a:p>
        </p:txBody>
      </p:sp>
      <p:sp>
        <p:nvSpPr>
          <p:cNvPr id="27" name="Text 24"/>
          <p:cNvSpPr/>
          <p:nvPr/>
        </p:nvSpPr>
        <p:spPr>
          <a:xfrm>
            <a:off x="6715125" y="1666875"/>
            <a:ext cx="33552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낮은 구독률(적은 구독자수)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715125" y="1941165"/>
            <a:ext cx="33552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문화사업 분야의 전문성 부족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15125" y="2215455"/>
            <a:ext cx="33552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행사 준비에 대한 업무 집중도 과다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715125" y="2489746"/>
            <a:ext cx="33552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영상홍보 매체 無 &amp; 자체 홍보 부족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61975" y="5002262"/>
            <a:ext cx="23812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2" name="Shape 29"/>
          <p:cNvSpPr/>
          <p:nvPr/>
        </p:nvSpPr>
        <p:spPr>
          <a:xfrm>
            <a:off x="2933700" y="2906911"/>
            <a:ext cx="9525" cy="2104876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3" name="Shape 30"/>
          <p:cNvSpPr/>
          <p:nvPr/>
        </p:nvSpPr>
        <p:spPr>
          <a:xfrm>
            <a:off x="561975" y="2906911"/>
            <a:ext cx="2371725" cy="457200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34" name="Shape 31"/>
          <p:cNvSpPr/>
          <p:nvPr/>
        </p:nvSpPr>
        <p:spPr>
          <a:xfrm>
            <a:off x="561975" y="3354586"/>
            <a:ext cx="23717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5" name="Shape 32"/>
          <p:cNvSpPr/>
          <p:nvPr/>
        </p:nvSpPr>
        <p:spPr>
          <a:xfrm>
            <a:off x="733425" y="3054548"/>
            <a:ext cx="152400" cy="152400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36" name="Text 33"/>
          <p:cNvSpPr/>
          <p:nvPr/>
        </p:nvSpPr>
        <p:spPr>
          <a:xfrm>
            <a:off x="981075" y="3011686"/>
            <a:ext cx="77182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기회 (O)</a:t>
            </a:r>
            <a:endParaRPr lang="en-US" sz="1425" dirty="0"/>
          </a:p>
        </p:txBody>
      </p:sp>
      <p:sp>
        <p:nvSpPr>
          <p:cNvPr id="37" name="Text 34"/>
          <p:cNvSpPr/>
          <p:nvPr/>
        </p:nvSpPr>
        <p:spPr>
          <a:xfrm>
            <a:off x="733425" y="3497461"/>
            <a:ext cx="2105025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정부 차원의 문화·체육 예산 증대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33425" y="4046041"/>
            <a:ext cx="210502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레저문화 지속 확대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33425" y="4320332"/>
            <a:ext cx="2105025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가족 중심의 문화 소비 경향 강화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2943225" y="2906911"/>
            <a:ext cx="3600450" cy="2104876"/>
          </a:xfrm>
          <a:prstGeom prst="rect">
            <a:avLst/>
          </a:prstGeom>
          <a:solidFill>
            <a:srgbClr val="F7FBF2"/>
          </a:solidFill>
          <a:ln/>
        </p:spPr>
      </p:sp>
      <p:sp>
        <p:nvSpPr>
          <p:cNvPr id="41" name="Shape 38"/>
          <p:cNvSpPr/>
          <p:nvPr/>
        </p:nvSpPr>
        <p:spPr>
          <a:xfrm>
            <a:off x="2943225" y="5002262"/>
            <a:ext cx="36004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2" name="Shape 39"/>
          <p:cNvSpPr/>
          <p:nvPr/>
        </p:nvSpPr>
        <p:spPr>
          <a:xfrm>
            <a:off x="6534150" y="2906911"/>
            <a:ext cx="9525" cy="2104876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3" name="Text 40"/>
          <p:cNvSpPr/>
          <p:nvPr/>
        </p:nvSpPr>
        <p:spPr>
          <a:xfrm>
            <a:off x="3114675" y="3040261"/>
            <a:ext cx="357282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 · 강점으로 기회를 잡는다</a:t>
            </a:r>
            <a:endParaRPr lang="en-US" sz="1275" dirty="0"/>
          </a:p>
        </p:txBody>
      </p:sp>
      <p:sp>
        <p:nvSpPr>
          <p:cNvPr id="44" name="Text 41"/>
          <p:cNvSpPr/>
          <p:nvPr/>
        </p:nvSpPr>
        <p:spPr>
          <a:xfrm>
            <a:off x="3114675" y="3330773"/>
            <a:ext cx="3345466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문화·체육 관련 지자체 예산 선점 · 사업 관심도 증대 통한 브랜드 가치 확대 · Relationship 기반 신규 사업 진출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543675" y="5002262"/>
            <a:ext cx="36004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6" name="Text 43"/>
          <p:cNvSpPr/>
          <p:nvPr/>
        </p:nvSpPr>
        <p:spPr>
          <a:xfrm>
            <a:off x="6715125" y="3040261"/>
            <a:ext cx="358330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 · 약점을 보완해 기회를 쓴다</a:t>
            </a:r>
            <a:endParaRPr lang="en-US" sz="1275" dirty="0"/>
          </a:p>
        </p:txBody>
      </p:sp>
      <p:sp>
        <p:nvSpPr>
          <p:cNvPr id="47" name="Text 44"/>
          <p:cNvSpPr/>
          <p:nvPr/>
        </p:nvSpPr>
        <p:spPr>
          <a:xfrm>
            <a:off x="6715125" y="3330773"/>
            <a:ext cx="3355277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각 사업별 STP 정립 통한 사업 집중화 · 역량 있는 외주인력·대행사 활용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2933700" y="5011787"/>
            <a:ext cx="9525" cy="2095351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9" name="Shape 46"/>
          <p:cNvSpPr/>
          <p:nvPr/>
        </p:nvSpPr>
        <p:spPr>
          <a:xfrm>
            <a:off x="561975" y="5011787"/>
            <a:ext cx="2371725" cy="457200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50" name="Shape 47"/>
          <p:cNvSpPr/>
          <p:nvPr/>
        </p:nvSpPr>
        <p:spPr>
          <a:xfrm>
            <a:off x="561975" y="5459462"/>
            <a:ext cx="23717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1" name="Shape 48"/>
          <p:cNvSpPr/>
          <p:nvPr/>
        </p:nvSpPr>
        <p:spPr>
          <a:xfrm>
            <a:off x="733425" y="5159425"/>
            <a:ext cx="152400" cy="1524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52" name="Text 49"/>
          <p:cNvSpPr/>
          <p:nvPr/>
        </p:nvSpPr>
        <p:spPr>
          <a:xfrm>
            <a:off x="981075" y="5116562"/>
            <a:ext cx="73677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위협 (T)</a:t>
            </a:r>
            <a:endParaRPr lang="en-US" sz="1425" dirty="0"/>
          </a:p>
        </p:txBody>
      </p:sp>
      <p:sp>
        <p:nvSpPr>
          <p:cNvPr id="53" name="Text 50"/>
          <p:cNvSpPr/>
          <p:nvPr/>
        </p:nvSpPr>
        <p:spPr>
          <a:xfrm>
            <a:off x="733425" y="5602337"/>
            <a:ext cx="2105025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New Media(온라인·모바일) 선호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733425" y="6150918"/>
            <a:ext cx="2105025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경쟁사의 온라인 홍보 채널 강화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733425" y="6699498"/>
            <a:ext cx="210502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기업의 투자 심리 위축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534150" y="5011787"/>
            <a:ext cx="9525" cy="2095351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7" name="Text 54"/>
          <p:cNvSpPr/>
          <p:nvPr/>
        </p:nvSpPr>
        <p:spPr>
          <a:xfrm>
            <a:off x="3114675" y="5145137"/>
            <a:ext cx="357282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 · 강점으로 위협을 막는다</a:t>
            </a:r>
            <a:endParaRPr lang="en-US" sz="1275" dirty="0"/>
          </a:p>
        </p:txBody>
      </p:sp>
      <p:sp>
        <p:nvSpPr>
          <p:cNvPr id="58" name="Text 55"/>
          <p:cNvSpPr/>
          <p:nvPr/>
        </p:nvSpPr>
        <p:spPr>
          <a:xfrm>
            <a:off x="3114675" y="5435650"/>
            <a:ext cx="3345466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주요 사업 Data-base 구축 − 참가자수 · 광고 노출 건수 등 · New Media 홍보 채널 강화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6715125" y="5145137"/>
            <a:ext cx="358330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WT · 약점과 위협을 함께 줄인다</a:t>
            </a:r>
            <a:endParaRPr lang="en-US" sz="1275" dirty="0"/>
          </a:p>
        </p:txBody>
      </p:sp>
      <p:sp>
        <p:nvSpPr>
          <p:cNvPr id="60" name="Text 57"/>
          <p:cNvSpPr/>
          <p:nvPr/>
        </p:nvSpPr>
        <p:spPr>
          <a:xfrm>
            <a:off x="6715125" y="5435650"/>
            <a:ext cx="3355277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5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자금력 있는 중소기업 발굴 및 협찬 유도 · 온라인망 활용 통한 광고 협찬 확대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10041136" y="7110413"/>
            <a:ext cx="16013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75" y="133350"/>
            <a:ext cx="419100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7650" y="876300"/>
            <a:ext cx="10201275" cy="9525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" name="Text 1"/>
          <p:cNvSpPr/>
          <p:nvPr/>
        </p:nvSpPr>
        <p:spPr>
          <a:xfrm>
            <a:off x="438150" y="123825"/>
            <a:ext cx="961453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spc="-49" kern="0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2016년 미디어사업팀 전략방향</a:t>
            </a:r>
            <a:endParaRPr lang="en-US" sz="2475" dirty="0"/>
          </a:p>
        </p:txBody>
      </p:sp>
      <p:sp>
        <p:nvSpPr>
          <p:cNvPr id="5" name="Text 2"/>
          <p:cNvSpPr/>
          <p:nvPr/>
        </p:nvSpPr>
        <p:spPr>
          <a:xfrm>
            <a:off x="1085850" y="1066800"/>
            <a:ext cx="1885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전략방향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3095625" y="1066800"/>
            <a:ext cx="4191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주요내용</a:t>
            </a:r>
            <a:endParaRPr lang="en-US" sz="1425" dirty="0"/>
          </a:p>
        </p:txBody>
      </p:sp>
      <p:sp>
        <p:nvSpPr>
          <p:cNvPr id="7" name="Shape 4"/>
          <p:cNvSpPr/>
          <p:nvPr/>
        </p:nvSpPr>
        <p:spPr>
          <a:xfrm>
            <a:off x="1171575" y="1352550"/>
            <a:ext cx="9144000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1171575" y="1543050"/>
            <a:ext cx="1714500" cy="2076450"/>
          </a:xfrm>
          <a:prstGeom prst="rect">
            <a:avLst/>
          </a:prstGeom>
          <a:solidFill>
            <a:srgbClr val="E8F8F6"/>
          </a:solidFill>
          <a:ln/>
        </p:spPr>
      </p:sp>
      <p:sp>
        <p:nvSpPr>
          <p:cNvPr id="9" name="Text 6"/>
          <p:cNvSpPr/>
          <p:nvPr/>
        </p:nvSpPr>
        <p:spPr>
          <a:xfrm>
            <a:off x="1635026" y="2206079"/>
            <a:ext cx="86372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400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사업</a:t>
            </a:r>
            <a:endParaRPr lang="en-US" sz="1425" dirty="0"/>
          </a:p>
        </p:txBody>
      </p:sp>
      <p:sp>
        <p:nvSpPr>
          <p:cNvPr id="10" name="Text 7"/>
          <p:cNvSpPr/>
          <p:nvPr/>
        </p:nvSpPr>
        <p:spPr>
          <a:xfrm>
            <a:off x="1544538" y="2459385"/>
            <a:ext cx="10446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400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경쟁력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1757288" y="2712690"/>
            <a:ext cx="619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400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극대화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2962275" y="1543050"/>
            <a:ext cx="6838950" cy="2076450"/>
          </a:xfrm>
          <a:prstGeom prst="rect">
            <a:avLst/>
          </a:prstGeom>
          <a:ln w="9525">
            <a:solidFill>
              <a:srgbClr val="1436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62300" y="1704975"/>
            <a:ext cx="6644069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778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중장기 수익 확대 견인 위한 기획 경쟁력 강화 · 고정 멤버 확립 및 신규 멤버 창출 통한 수익 안정화 · 현금 경쟁력 있는 중소기업 발굴 및 협찬 유도 · 정부 문화·관광 예산 선점 위한 주요 부처 Relationship 강화</a:t>
            </a:r>
            <a:endParaRPr lang="en-US" sz="1275" dirty="0"/>
          </a:p>
        </p:txBody>
      </p:sp>
      <p:sp>
        <p:nvSpPr>
          <p:cNvPr id="14" name="Shape 11"/>
          <p:cNvSpPr/>
          <p:nvPr/>
        </p:nvSpPr>
        <p:spPr>
          <a:xfrm>
            <a:off x="1171575" y="3771900"/>
            <a:ext cx="1714500" cy="1371600"/>
          </a:xfrm>
          <a:prstGeom prst="rect">
            <a:avLst/>
          </a:prstGeom>
          <a:solidFill>
            <a:srgbClr val="E8F8F6"/>
          </a:solidFill>
          <a:ln/>
        </p:spPr>
      </p:sp>
      <p:sp>
        <p:nvSpPr>
          <p:cNvPr id="15" name="Text 12"/>
          <p:cNvSpPr/>
          <p:nvPr/>
        </p:nvSpPr>
        <p:spPr>
          <a:xfrm>
            <a:off x="1544538" y="4209157"/>
            <a:ext cx="10446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400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가치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847776" y="4462463"/>
            <a:ext cx="438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400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증대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2962275" y="3771900"/>
            <a:ext cx="6838950" cy="1371600"/>
          </a:xfrm>
          <a:prstGeom prst="rect">
            <a:avLst/>
          </a:prstGeom>
          <a:ln w="9525">
            <a:solidFill>
              <a:srgbClr val="1436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62300" y="3933825"/>
            <a:ext cx="6644069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778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브랜드 가치 회복 위한 기획 및 실행력 강화 · Data-base 구축 및 온라인 홍보 채널 확대 · 기존 사업 연계 통한 홍보 Synergy 창출</a:t>
            </a:r>
            <a:endParaRPr lang="en-US" sz="1275" dirty="0"/>
          </a:p>
        </p:txBody>
      </p:sp>
      <p:sp>
        <p:nvSpPr>
          <p:cNvPr id="19" name="Shape 16"/>
          <p:cNvSpPr/>
          <p:nvPr/>
        </p:nvSpPr>
        <p:spPr>
          <a:xfrm>
            <a:off x="1171575" y="5295900"/>
            <a:ext cx="1714500" cy="1619250"/>
          </a:xfrm>
          <a:prstGeom prst="rect">
            <a:avLst/>
          </a:prstGeom>
          <a:solidFill>
            <a:srgbClr val="E8F8F6"/>
          </a:solidFill>
          <a:ln/>
        </p:spPr>
      </p:sp>
      <p:sp>
        <p:nvSpPr>
          <p:cNvPr id="20" name="Text 17"/>
          <p:cNvSpPr/>
          <p:nvPr/>
        </p:nvSpPr>
        <p:spPr>
          <a:xfrm>
            <a:off x="1635026" y="5856982"/>
            <a:ext cx="86372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400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사업</a:t>
            </a:r>
            <a:endParaRPr lang="en-US" sz="1425" dirty="0"/>
          </a:p>
        </p:txBody>
      </p:sp>
      <p:sp>
        <p:nvSpPr>
          <p:cNvPr id="21" name="Text 18"/>
          <p:cNvSpPr/>
          <p:nvPr/>
        </p:nvSpPr>
        <p:spPr>
          <a:xfrm>
            <a:off x="1847776" y="6110288"/>
            <a:ext cx="438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400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425" dirty="0"/>
          </a:p>
        </p:txBody>
      </p:sp>
      <p:sp>
        <p:nvSpPr>
          <p:cNvPr id="22" name="Shape 19"/>
          <p:cNvSpPr/>
          <p:nvPr/>
        </p:nvSpPr>
        <p:spPr>
          <a:xfrm>
            <a:off x="2962275" y="5295900"/>
            <a:ext cx="6838950" cy="1619250"/>
          </a:xfrm>
          <a:prstGeom prst="rect">
            <a:avLst/>
          </a:prstGeom>
          <a:ln w="9525">
            <a:solidFill>
              <a:srgbClr val="1436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62300" y="5457825"/>
            <a:ext cx="6644069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778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 사업 확대에 따른 운영 역량 강화 · 신규 사업 연착륙을 위한 Know-how 습득 · 차세대 신규 사업 발굴 및 기획</a:t>
            </a:r>
            <a:endParaRPr lang="en-US" sz="1275" dirty="0"/>
          </a:p>
        </p:txBody>
      </p:sp>
      <p:sp>
        <p:nvSpPr>
          <p:cNvPr id="24" name="Text 21"/>
          <p:cNvSpPr/>
          <p:nvPr/>
        </p:nvSpPr>
        <p:spPr>
          <a:xfrm>
            <a:off x="10041136" y="7110413"/>
            <a:ext cx="16013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75" y="133350"/>
            <a:ext cx="419100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7650" y="876300"/>
            <a:ext cx="10201275" cy="9525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" name="Text 1"/>
          <p:cNvSpPr/>
          <p:nvPr/>
        </p:nvSpPr>
        <p:spPr>
          <a:xfrm>
            <a:off x="438150" y="123825"/>
            <a:ext cx="961453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spc="-49" kern="0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2016년 미디어사업팀 전략맵</a:t>
            </a:r>
            <a:endParaRPr lang="en-US" sz="2475" dirty="0"/>
          </a:p>
        </p:txBody>
      </p:sp>
      <p:sp>
        <p:nvSpPr>
          <p:cNvPr id="5" name="Shape 2"/>
          <p:cNvSpPr/>
          <p:nvPr/>
        </p:nvSpPr>
        <p:spPr>
          <a:xfrm>
            <a:off x="552450" y="1066800"/>
            <a:ext cx="381000" cy="609600"/>
          </a:xfrm>
          <a:prstGeom prst="rect">
            <a:avLst/>
          </a:prstGeom>
          <a:solidFill>
            <a:srgbClr val="215732"/>
          </a:solidFill>
          <a:ln/>
        </p:spPr>
      </p:sp>
      <p:sp>
        <p:nvSpPr>
          <p:cNvPr id="6" name="Text 3"/>
          <p:cNvSpPr/>
          <p:nvPr/>
        </p:nvSpPr>
        <p:spPr>
          <a:xfrm>
            <a:off x="514350" y="1066800"/>
            <a:ext cx="457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 vert="eaVer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2450" y="1771650"/>
            <a:ext cx="381000" cy="609600"/>
          </a:xfrm>
          <a:prstGeom prst="rect">
            <a:avLst/>
          </a:prstGeom>
          <a:solidFill>
            <a:srgbClr val="215732"/>
          </a:solidFill>
          <a:ln/>
        </p:spPr>
      </p:sp>
      <p:sp>
        <p:nvSpPr>
          <p:cNvPr id="8" name="Text 5"/>
          <p:cNvSpPr/>
          <p:nvPr/>
        </p:nvSpPr>
        <p:spPr>
          <a:xfrm>
            <a:off x="514350" y="1771650"/>
            <a:ext cx="457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 vert="eaVer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2450" y="2476500"/>
            <a:ext cx="381000" cy="438150"/>
          </a:xfrm>
          <a:prstGeom prst="rect">
            <a:avLst/>
          </a:prstGeom>
          <a:solidFill>
            <a:srgbClr val="215732"/>
          </a:solidFill>
          <a:ln/>
        </p:spPr>
      </p:sp>
      <p:sp>
        <p:nvSpPr>
          <p:cNvPr id="10" name="Text 7"/>
          <p:cNvSpPr/>
          <p:nvPr/>
        </p:nvSpPr>
        <p:spPr>
          <a:xfrm>
            <a:off x="514350" y="2476500"/>
            <a:ext cx="457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 vert="eaVer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2450" y="3009900"/>
            <a:ext cx="381000" cy="2895600"/>
          </a:xfrm>
          <a:prstGeom prst="rect">
            <a:avLst/>
          </a:prstGeom>
          <a:solidFill>
            <a:srgbClr val="215732"/>
          </a:solidFill>
          <a:ln/>
        </p:spPr>
      </p:sp>
      <p:sp>
        <p:nvSpPr>
          <p:cNvPr id="12" name="Text 9"/>
          <p:cNvSpPr/>
          <p:nvPr/>
        </p:nvSpPr>
        <p:spPr>
          <a:xfrm>
            <a:off x="514350" y="3009900"/>
            <a:ext cx="457200" cy="293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 vert="eaVert">
            <a:normAutofit/>
          </a:bodyPr>
          <a:lstStyle/>
          <a:p>
            <a:pPr algn="ctr" indent="0" marL="0">
              <a:buNone/>
            </a:pPr>
            <a:r>
              <a:rPr lang="en-US" sz="1200" b="1" spc="42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52450" y="6000750"/>
            <a:ext cx="381000" cy="876300"/>
          </a:xfrm>
          <a:prstGeom prst="rect">
            <a:avLst/>
          </a:prstGeom>
          <a:solidFill>
            <a:srgbClr val="215732"/>
          </a:solidFill>
          <a:ln/>
        </p:spPr>
      </p:sp>
      <p:sp>
        <p:nvSpPr>
          <p:cNvPr id="14" name="Text 11"/>
          <p:cNvSpPr/>
          <p:nvPr/>
        </p:nvSpPr>
        <p:spPr>
          <a:xfrm>
            <a:off x="514350" y="6000750"/>
            <a:ext cx="457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 vert="eaVert">
            <a:normAutofit/>
          </a:bodyPr>
          <a:lstStyle/>
          <a:p>
            <a:pPr algn="ctr" indent="0" marL="0">
              <a:buNone/>
            </a:pPr>
            <a:r>
              <a:rPr lang="en-US" sz="1200" b="1" spc="24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학습성장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28700" y="1066800"/>
            <a:ext cx="9048750" cy="609600"/>
          </a:xfrm>
          <a:prstGeom prst="rect">
            <a:avLst/>
          </a:prstGeom>
          <a:solidFill>
            <a:srgbClr val="EEF8E0"/>
          </a:solidFill>
          <a:ln w="9525">
            <a:solidFill>
              <a:srgbClr val="1436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2494" y="1076325"/>
            <a:ext cx="930116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경영목표 달성 · 매출액 &amp; 영업이익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76875" y="1676400"/>
            <a:ext cx="152400" cy="95250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18" name="Shape 15"/>
          <p:cNvSpPr/>
          <p:nvPr/>
        </p:nvSpPr>
        <p:spPr>
          <a:xfrm>
            <a:off x="1028700" y="1771650"/>
            <a:ext cx="9048750" cy="609600"/>
          </a:xfrm>
          <a:prstGeom prst="rect">
            <a:avLst/>
          </a:prstGeom>
          <a:solidFill>
            <a:srgbClr val="E8F8F6"/>
          </a:solidFill>
          <a:ln w="9525">
            <a:solidFill>
              <a:srgbClr val="14362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2494" y="1781175"/>
            <a:ext cx="930116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‘한국일보’ Brand Value up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76875" y="2381250"/>
            <a:ext cx="152400" cy="95250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21" name="Shape 18"/>
          <p:cNvSpPr/>
          <p:nvPr/>
        </p:nvSpPr>
        <p:spPr>
          <a:xfrm>
            <a:off x="1028700" y="2476500"/>
            <a:ext cx="2952750" cy="438150"/>
          </a:xfrm>
          <a:prstGeom prst="rect">
            <a:avLst/>
          </a:prstGeom>
          <a:solidFill>
            <a:srgbClr val="E8F8F6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3459" y="2495550"/>
            <a:ext cx="300323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사업 수익 경쟁력 극대화</a:t>
            </a:r>
            <a:endParaRPr lang="en-US" sz="1275" dirty="0"/>
          </a:p>
        </p:txBody>
      </p:sp>
      <p:sp>
        <p:nvSpPr>
          <p:cNvPr id="23" name="Shape 20"/>
          <p:cNvSpPr/>
          <p:nvPr/>
        </p:nvSpPr>
        <p:spPr>
          <a:xfrm>
            <a:off x="4076700" y="2476500"/>
            <a:ext cx="2952750" cy="438150"/>
          </a:xfrm>
          <a:prstGeom prst="rect">
            <a:avLst/>
          </a:prstGeom>
          <a:solidFill>
            <a:srgbClr val="E8F8F6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51459" y="2495550"/>
            <a:ext cx="300323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가치 증대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7124700" y="2476500"/>
            <a:ext cx="2952750" cy="438150"/>
          </a:xfrm>
          <a:prstGeom prst="rect">
            <a:avLst/>
          </a:prstGeom>
          <a:solidFill>
            <a:srgbClr val="E8F8F6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99459" y="2495550"/>
            <a:ext cx="300323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사업 확장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1028700" y="3009900"/>
            <a:ext cx="2952750" cy="2895600"/>
          </a:xfrm>
          <a:prstGeom prst="rect">
            <a:avLst/>
          </a:prstGeom>
          <a:solidFill>
            <a:srgbClr val="215732">
              <a:alpha val="20000"/>
            </a:srgbClr>
          </a:solidFill>
          <a:ln w="9525">
            <a:solidFill>
              <a:srgbClr val="1436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28725" y="3190875"/>
            <a:ext cx="2641282" cy="2571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279"/>
              </a:lnSpc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D3DDD6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기획 경쟁력 강화 · 고정 멤버 확립 및 신규 멤버 창출 · 중소기업 발굴 및 협찬 유도 · 정부 부처 Relationship 강화 · 사업별 STP 정립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076700" y="3009900"/>
            <a:ext cx="2952750" cy="2895600"/>
          </a:xfrm>
          <a:prstGeom prst="rect">
            <a:avLst/>
          </a:prstGeom>
          <a:solidFill>
            <a:srgbClr val="215732">
              <a:alpha val="20000"/>
            </a:srgbClr>
          </a:solidFill>
          <a:ln w="9525">
            <a:solidFill>
              <a:srgbClr val="14362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76725" y="3190875"/>
            <a:ext cx="2641282" cy="2571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279"/>
              </a:lnSpc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D3DDD6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기획 및 실행력 강화 · Data-base 구축 · 온라인 홍보 채널 확대 · 기존 사업 연계 홍보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124700" y="3009900"/>
            <a:ext cx="2952750" cy="2895600"/>
          </a:xfrm>
          <a:prstGeom prst="rect">
            <a:avLst/>
          </a:prstGeom>
          <a:solidFill>
            <a:srgbClr val="215732">
              <a:alpha val="20000"/>
            </a:srgbClr>
          </a:solidFill>
          <a:ln w="9525">
            <a:solidFill>
              <a:srgbClr val="14362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24725" y="3190875"/>
            <a:ext cx="2641282" cy="2571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279"/>
              </a:lnSpc>
              <a:buNone/>
            </a:pPr>
            <a:r>
              <a:rPr lang="en-US" sz="1200" b="1" dirty="0">
                <a:solidFill>
                  <a:srgbClr val="000000"/>
                </a:solidFill>
                <a:highlight>
                  <a:srgbClr val="D3DDD6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운영 역량 강화 · 사업 Know-how 습득 · 차세대 사업 발굴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76875" y="5905500"/>
            <a:ext cx="152400" cy="95250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34" name="Shape 31"/>
          <p:cNvSpPr/>
          <p:nvPr/>
        </p:nvSpPr>
        <p:spPr>
          <a:xfrm>
            <a:off x="1028700" y="6000750"/>
            <a:ext cx="9048750" cy="876300"/>
          </a:xfrm>
          <a:prstGeom prst="rect">
            <a:avLst/>
          </a:prstGeom>
          <a:solidFill>
            <a:srgbClr val="EAEAEA"/>
          </a:solidFill>
          <a:ln w="9525">
            <a:solidFill>
              <a:srgbClr val="1436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228725" y="6162675"/>
            <a:ext cx="42291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14362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74814" y="6172200"/>
            <a:ext cx="433692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 역량 강화</a:t>
            </a:r>
            <a:endParaRPr lang="en-US" sz="1275" dirty="0"/>
          </a:p>
        </p:txBody>
      </p:sp>
      <p:sp>
        <p:nvSpPr>
          <p:cNvPr id="37" name="Shape 34"/>
          <p:cNvSpPr/>
          <p:nvPr/>
        </p:nvSpPr>
        <p:spPr>
          <a:xfrm>
            <a:off x="5648325" y="6162675"/>
            <a:ext cx="42291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14362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94414" y="6172200"/>
            <a:ext cx="433692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Manual 체계 구축</a:t>
            </a:r>
            <a:endParaRPr lang="en-US" sz="1275" dirty="0"/>
          </a:p>
        </p:txBody>
      </p:sp>
      <p:sp>
        <p:nvSpPr>
          <p:cNvPr id="39" name="Text 36"/>
          <p:cNvSpPr/>
          <p:nvPr/>
        </p:nvSpPr>
        <p:spPr>
          <a:xfrm>
            <a:off x="10041136" y="7110413"/>
            <a:ext cx="16013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75" y="133350"/>
            <a:ext cx="419100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7650" y="876300"/>
            <a:ext cx="10201275" cy="9525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" name="Text 1"/>
          <p:cNvSpPr/>
          <p:nvPr/>
        </p:nvSpPr>
        <p:spPr>
          <a:xfrm>
            <a:off x="438150" y="123825"/>
            <a:ext cx="647509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spc="-49" kern="0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KPI &amp; Target ①</a:t>
            </a:r>
            <a:endParaRPr lang="en-US" sz="2475" dirty="0"/>
          </a:p>
        </p:txBody>
      </p:sp>
      <p:sp>
        <p:nvSpPr>
          <p:cNvPr id="5" name="Shape 2"/>
          <p:cNvSpPr/>
          <p:nvPr/>
        </p:nvSpPr>
        <p:spPr>
          <a:xfrm>
            <a:off x="7000875" y="323850"/>
            <a:ext cx="1876425" cy="304800"/>
          </a:xfrm>
          <a:prstGeom prst="rect">
            <a:avLst/>
          </a:prstGeom>
          <a:solidFill>
            <a:srgbClr val="EEF8E0"/>
          </a:solidFill>
          <a:ln w="9525">
            <a:solidFill>
              <a:srgbClr val="21573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72300" y="333375"/>
            <a:ext cx="19335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Link. KPI 정의서</a:t>
            </a:r>
            <a:endParaRPr lang="en-US" sz="1275" dirty="0"/>
          </a:p>
        </p:txBody>
      </p:sp>
      <p:sp>
        <p:nvSpPr>
          <p:cNvPr id="7" name="Shape 4"/>
          <p:cNvSpPr/>
          <p:nvPr/>
        </p:nvSpPr>
        <p:spPr>
          <a:xfrm>
            <a:off x="876300" y="1104900"/>
            <a:ext cx="8791575" cy="548580"/>
          </a:xfrm>
          <a:prstGeom prst="rect">
            <a:avLst/>
          </a:prstGeom>
          <a:solidFill>
            <a:srgbClr val="215732"/>
          </a:solidFill>
          <a:ln/>
        </p:spPr>
      </p:sp>
      <p:sp>
        <p:nvSpPr>
          <p:cNvPr id="8" name="Shape 5"/>
          <p:cNvSpPr/>
          <p:nvPr/>
        </p:nvSpPr>
        <p:spPr>
          <a:xfrm>
            <a:off x="1390650" y="1104900"/>
            <a:ext cx="9525" cy="548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876300" y="1181100"/>
            <a:ext cx="5143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7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28850" y="1104900"/>
            <a:ext cx="9525" cy="548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400175" y="1181100"/>
            <a:ext cx="82867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7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목표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29050" y="1104900"/>
            <a:ext cx="9525" cy="548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2238375" y="1181100"/>
            <a:ext cx="159067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7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명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57800" y="1104900"/>
            <a:ext cx="9525" cy="548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3838575" y="1181100"/>
            <a:ext cx="141922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7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57900" y="1104900"/>
            <a:ext cx="9525" cy="548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5267325" y="1181100"/>
            <a:ext cx="79057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7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’15년 추정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10400" y="1104900"/>
            <a:ext cx="9525" cy="548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067425" y="1181100"/>
            <a:ext cx="94297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7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’16년 목표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62900" y="1104900"/>
            <a:ext cx="9525" cy="548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7019925" y="1181100"/>
            <a:ext cx="94297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7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증감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972425" y="1181100"/>
            <a:ext cx="16954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7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76300" y="7358955"/>
            <a:ext cx="87915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4" name="Shape 21"/>
          <p:cNvSpPr/>
          <p:nvPr/>
        </p:nvSpPr>
        <p:spPr>
          <a:xfrm>
            <a:off x="876300" y="1653480"/>
            <a:ext cx="9525" cy="57150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Shape 22"/>
          <p:cNvSpPr/>
          <p:nvPr/>
        </p:nvSpPr>
        <p:spPr>
          <a:xfrm>
            <a:off x="9658350" y="1653480"/>
            <a:ext cx="9525" cy="57150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6" name="Shape 23"/>
          <p:cNvSpPr/>
          <p:nvPr/>
        </p:nvSpPr>
        <p:spPr>
          <a:xfrm>
            <a:off x="885825" y="1653480"/>
            <a:ext cx="523875" cy="819150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27" name="Shape 24"/>
          <p:cNvSpPr/>
          <p:nvPr/>
        </p:nvSpPr>
        <p:spPr>
          <a:xfrm>
            <a:off x="885825" y="2463105"/>
            <a:ext cx="5238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8" name="Shape 25"/>
          <p:cNvSpPr/>
          <p:nvPr/>
        </p:nvSpPr>
        <p:spPr>
          <a:xfrm>
            <a:off x="1400175" y="165348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6"/>
          <p:cNvSpPr/>
          <p:nvPr/>
        </p:nvSpPr>
        <p:spPr>
          <a:xfrm>
            <a:off x="876300" y="1758255"/>
            <a:ext cx="5334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</a:t>
            </a:r>
            <a:endParaRPr lang="en-US" sz="1125" dirty="0"/>
          </a:p>
        </p:txBody>
      </p:sp>
      <p:sp>
        <p:nvSpPr>
          <p:cNvPr id="30" name="Shape 27"/>
          <p:cNvSpPr/>
          <p:nvPr/>
        </p:nvSpPr>
        <p:spPr>
          <a:xfrm>
            <a:off x="1409700" y="2463105"/>
            <a:ext cx="8382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1" name="Shape 28"/>
          <p:cNvSpPr/>
          <p:nvPr/>
        </p:nvSpPr>
        <p:spPr>
          <a:xfrm>
            <a:off x="2238375" y="165348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2" name="Text 29"/>
          <p:cNvSpPr/>
          <p:nvPr/>
        </p:nvSpPr>
        <p:spPr>
          <a:xfrm>
            <a:off x="1400175" y="1758255"/>
            <a:ext cx="8477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 목표 달성</a:t>
            </a:r>
            <a:endParaRPr lang="en-US" sz="1125" dirty="0"/>
          </a:p>
        </p:txBody>
      </p:sp>
      <p:sp>
        <p:nvSpPr>
          <p:cNvPr id="33" name="Shape 30"/>
          <p:cNvSpPr/>
          <p:nvPr/>
        </p:nvSpPr>
        <p:spPr>
          <a:xfrm>
            <a:off x="2247900" y="2463105"/>
            <a:ext cx="16002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4" name="Shape 31"/>
          <p:cNvSpPr/>
          <p:nvPr/>
        </p:nvSpPr>
        <p:spPr>
          <a:xfrm>
            <a:off x="3838575" y="165348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5" name="Text 32"/>
          <p:cNvSpPr/>
          <p:nvPr/>
        </p:nvSpPr>
        <p:spPr>
          <a:xfrm>
            <a:off x="2305050" y="1758255"/>
            <a:ext cx="15525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매출액</a:t>
            </a:r>
            <a:endParaRPr lang="en-US" sz="1125" dirty="0"/>
          </a:p>
        </p:txBody>
      </p:sp>
      <p:sp>
        <p:nvSpPr>
          <p:cNvPr id="36" name="Shape 33"/>
          <p:cNvSpPr/>
          <p:nvPr/>
        </p:nvSpPr>
        <p:spPr>
          <a:xfrm>
            <a:off x="3848100" y="2463105"/>
            <a:ext cx="1428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7" name="Shape 34"/>
          <p:cNvSpPr/>
          <p:nvPr/>
        </p:nvSpPr>
        <p:spPr>
          <a:xfrm>
            <a:off x="5267325" y="165348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8" name="Text 35"/>
          <p:cNvSpPr/>
          <p:nvPr/>
        </p:nvSpPr>
        <p:spPr>
          <a:xfrm>
            <a:off x="3838575" y="1758255"/>
            <a:ext cx="143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억원</a:t>
            </a:r>
            <a:endParaRPr lang="en-US" sz="1125" dirty="0"/>
          </a:p>
        </p:txBody>
      </p:sp>
      <p:sp>
        <p:nvSpPr>
          <p:cNvPr id="39" name="Shape 36"/>
          <p:cNvSpPr/>
          <p:nvPr/>
        </p:nvSpPr>
        <p:spPr>
          <a:xfrm>
            <a:off x="5276850" y="2463105"/>
            <a:ext cx="8001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0" name="Shape 37"/>
          <p:cNvSpPr/>
          <p:nvPr/>
        </p:nvSpPr>
        <p:spPr>
          <a:xfrm>
            <a:off x="6067425" y="165348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1" name="Text 38"/>
          <p:cNvSpPr/>
          <p:nvPr/>
        </p:nvSpPr>
        <p:spPr>
          <a:xfrm>
            <a:off x="5267325" y="1758255"/>
            <a:ext cx="8096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125" dirty="0"/>
          </a:p>
        </p:txBody>
      </p:sp>
      <p:sp>
        <p:nvSpPr>
          <p:cNvPr id="42" name="Shape 39"/>
          <p:cNvSpPr/>
          <p:nvPr/>
        </p:nvSpPr>
        <p:spPr>
          <a:xfrm>
            <a:off x="6076950" y="2463105"/>
            <a:ext cx="952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3" name="Shape 40"/>
          <p:cNvSpPr/>
          <p:nvPr/>
        </p:nvSpPr>
        <p:spPr>
          <a:xfrm>
            <a:off x="7019925" y="165348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4" name="Text 41"/>
          <p:cNvSpPr/>
          <p:nvPr/>
        </p:nvSpPr>
        <p:spPr>
          <a:xfrm>
            <a:off x="6067425" y="1758255"/>
            <a:ext cx="9620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125" dirty="0"/>
          </a:p>
        </p:txBody>
      </p:sp>
      <p:sp>
        <p:nvSpPr>
          <p:cNvPr id="45" name="Shape 42"/>
          <p:cNvSpPr/>
          <p:nvPr/>
        </p:nvSpPr>
        <p:spPr>
          <a:xfrm>
            <a:off x="7029450" y="2463105"/>
            <a:ext cx="952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6" name="Shape 43"/>
          <p:cNvSpPr/>
          <p:nvPr/>
        </p:nvSpPr>
        <p:spPr>
          <a:xfrm>
            <a:off x="7972425" y="165348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7" name="Text 44"/>
          <p:cNvSpPr/>
          <p:nvPr/>
        </p:nvSpPr>
        <p:spPr>
          <a:xfrm>
            <a:off x="7019925" y="1758255"/>
            <a:ext cx="9620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</a:t>
            </a:r>
            <a:endParaRPr lang="en-US" sz="1125" dirty="0"/>
          </a:p>
        </p:txBody>
      </p:sp>
      <p:sp>
        <p:nvSpPr>
          <p:cNvPr id="48" name="Shape 45"/>
          <p:cNvSpPr/>
          <p:nvPr/>
        </p:nvSpPr>
        <p:spPr>
          <a:xfrm>
            <a:off x="7981950" y="2463105"/>
            <a:ext cx="16954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9" name="Shape 46"/>
          <p:cNvSpPr/>
          <p:nvPr/>
        </p:nvSpPr>
        <p:spPr>
          <a:xfrm>
            <a:off x="885825" y="2472630"/>
            <a:ext cx="523875" cy="819150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50" name="Shape 47"/>
          <p:cNvSpPr/>
          <p:nvPr/>
        </p:nvSpPr>
        <p:spPr>
          <a:xfrm>
            <a:off x="885825" y="3282255"/>
            <a:ext cx="5238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1" name="Shape 48"/>
          <p:cNvSpPr/>
          <p:nvPr/>
        </p:nvSpPr>
        <p:spPr>
          <a:xfrm>
            <a:off x="1400175" y="247263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2" name="Text 49"/>
          <p:cNvSpPr/>
          <p:nvPr/>
        </p:nvSpPr>
        <p:spPr>
          <a:xfrm>
            <a:off x="876300" y="2577405"/>
            <a:ext cx="5334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</a:t>
            </a:r>
            <a:endParaRPr lang="en-US" sz="1125" dirty="0"/>
          </a:p>
        </p:txBody>
      </p:sp>
      <p:sp>
        <p:nvSpPr>
          <p:cNvPr id="53" name="Shape 50"/>
          <p:cNvSpPr/>
          <p:nvPr/>
        </p:nvSpPr>
        <p:spPr>
          <a:xfrm>
            <a:off x="1409700" y="3282255"/>
            <a:ext cx="8382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4" name="Shape 51"/>
          <p:cNvSpPr/>
          <p:nvPr/>
        </p:nvSpPr>
        <p:spPr>
          <a:xfrm>
            <a:off x="2238375" y="247263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5" name="Text 52"/>
          <p:cNvSpPr/>
          <p:nvPr/>
        </p:nvSpPr>
        <p:spPr>
          <a:xfrm>
            <a:off x="1400175" y="2577405"/>
            <a:ext cx="8477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 목표 달성</a:t>
            </a:r>
            <a:endParaRPr lang="en-US" sz="1125" dirty="0"/>
          </a:p>
        </p:txBody>
      </p:sp>
      <p:sp>
        <p:nvSpPr>
          <p:cNvPr id="56" name="Shape 53"/>
          <p:cNvSpPr/>
          <p:nvPr/>
        </p:nvSpPr>
        <p:spPr>
          <a:xfrm>
            <a:off x="2247900" y="3282255"/>
            <a:ext cx="16002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7" name="Shape 54"/>
          <p:cNvSpPr/>
          <p:nvPr/>
        </p:nvSpPr>
        <p:spPr>
          <a:xfrm>
            <a:off x="3838575" y="247263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8" name="Text 55"/>
          <p:cNvSpPr/>
          <p:nvPr/>
        </p:nvSpPr>
        <p:spPr>
          <a:xfrm>
            <a:off x="2305050" y="2577405"/>
            <a:ext cx="15525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</a:t>
            </a:r>
            <a:endParaRPr lang="en-US" sz="1125" dirty="0"/>
          </a:p>
        </p:txBody>
      </p:sp>
      <p:sp>
        <p:nvSpPr>
          <p:cNvPr id="59" name="Shape 56"/>
          <p:cNvSpPr/>
          <p:nvPr/>
        </p:nvSpPr>
        <p:spPr>
          <a:xfrm>
            <a:off x="3848100" y="3282255"/>
            <a:ext cx="1428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0" name="Shape 57"/>
          <p:cNvSpPr/>
          <p:nvPr/>
        </p:nvSpPr>
        <p:spPr>
          <a:xfrm>
            <a:off x="5267325" y="247263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1" name="Text 58"/>
          <p:cNvSpPr/>
          <p:nvPr/>
        </p:nvSpPr>
        <p:spPr>
          <a:xfrm>
            <a:off x="3838575" y="2577405"/>
            <a:ext cx="143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억원</a:t>
            </a:r>
            <a:endParaRPr lang="en-US" sz="1125" dirty="0"/>
          </a:p>
        </p:txBody>
      </p:sp>
      <p:sp>
        <p:nvSpPr>
          <p:cNvPr id="62" name="Shape 59"/>
          <p:cNvSpPr/>
          <p:nvPr/>
        </p:nvSpPr>
        <p:spPr>
          <a:xfrm>
            <a:off x="5276850" y="3282255"/>
            <a:ext cx="8001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3" name="Shape 60"/>
          <p:cNvSpPr/>
          <p:nvPr/>
        </p:nvSpPr>
        <p:spPr>
          <a:xfrm>
            <a:off x="6067425" y="247263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4" name="Text 61"/>
          <p:cNvSpPr/>
          <p:nvPr/>
        </p:nvSpPr>
        <p:spPr>
          <a:xfrm>
            <a:off x="5267325" y="2577405"/>
            <a:ext cx="8096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125" dirty="0"/>
          </a:p>
        </p:txBody>
      </p:sp>
      <p:sp>
        <p:nvSpPr>
          <p:cNvPr id="65" name="Shape 62"/>
          <p:cNvSpPr/>
          <p:nvPr/>
        </p:nvSpPr>
        <p:spPr>
          <a:xfrm>
            <a:off x="6076950" y="3282255"/>
            <a:ext cx="952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6" name="Shape 63"/>
          <p:cNvSpPr/>
          <p:nvPr/>
        </p:nvSpPr>
        <p:spPr>
          <a:xfrm>
            <a:off x="7019925" y="247263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7" name="Text 64"/>
          <p:cNvSpPr/>
          <p:nvPr/>
        </p:nvSpPr>
        <p:spPr>
          <a:xfrm>
            <a:off x="6067425" y="2577405"/>
            <a:ext cx="9620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00.0</a:t>
            </a:r>
            <a:endParaRPr lang="en-US" sz="1125" dirty="0"/>
          </a:p>
        </p:txBody>
      </p:sp>
      <p:sp>
        <p:nvSpPr>
          <p:cNvPr id="68" name="Shape 65"/>
          <p:cNvSpPr/>
          <p:nvPr/>
        </p:nvSpPr>
        <p:spPr>
          <a:xfrm>
            <a:off x="7029450" y="3282255"/>
            <a:ext cx="952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9" name="Shape 66"/>
          <p:cNvSpPr/>
          <p:nvPr/>
        </p:nvSpPr>
        <p:spPr>
          <a:xfrm>
            <a:off x="7972425" y="247263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0" name="Text 67"/>
          <p:cNvSpPr/>
          <p:nvPr/>
        </p:nvSpPr>
        <p:spPr>
          <a:xfrm>
            <a:off x="7019925" y="2577405"/>
            <a:ext cx="9620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</a:t>
            </a:r>
            <a:endParaRPr lang="en-US" sz="1125" dirty="0"/>
          </a:p>
        </p:txBody>
      </p:sp>
      <p:sp>
        <p:nvSpPr>
          <p:cNvPr id="71" name="Shape 68"/>
          <p:cNvSpPr/>
          <p:nvPr/>
        </p:nvSpPr>
        <p:spPr>
          <a:xfrm>
            <a:off x="7981950" y="3282255"/>
            <a:ext cx="16954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2" name="Shape 69"/>
          <p:cNvSpPr/>
          <p:nvPr/>
        </p:nvSpPr>
        <p:spPr>
          <a:xfrm>
            <a:off x="885825" y="3291780"/>
            <a:ext cx="523875" cy="1219200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73" name="Shape 70"/>
          <p:cNvSpPr/>
          <p:nvPr/>
        </p:nvSpPr>
        <p:spPr>
          <a:xfrm>
            <a:off x="885825" y="4501455"/>
            <a:ext cx="5238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4" name="Shape 71"/>
          <p:cNvSpPr/>
          <p:nvPr/>
        </p:nvSpPr>
        <p:spPr>
          <a:xfrm>
            <a:off x="1400175" y="3291780"/>
            <a:ext cx="9525" cy="1219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5" name="Text 72"/>
          <p:cNvSpPr/>
          <p:nvPr/>
        </p:nvSpPr>
        <p:spPr>
          <a:xfrm>
            <a:off x="876300" y="3396555"/>
            <a:ext cx="53340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highlight>
                  <a:srgbClr val="EEF8E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 세스</a:t>
            </a:r>
            <a:endParaRPr lang="en-US" sz="1125" dirty="0"/>
          </a:p>
        </p:txBody>
      </p:sp>
      <p:sp>
        <p:nvSpPr>
          <p:cNvPr id="76" name="Shape 73"/>
          <p:cNvSpPr/>
          <p:nvPr/>
        </p:nvSpPr>
        <p:spPr>
          <a:xfrm>
            <a:off x="1409700" y="4501455"/>
            <a:ext cx="8382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7" name="Shape 74"/>
          <p:cNvSpPr/>
          <p:nvPr/>
        </p:nvSpPr>
        <p:spPr>
          <a:xfrm>
            <a:off x="2238375" y="3291780"/>
            <a:ext cx="9525" cy="1219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8" name="Text 75"/>
          <p:cNvSpPr/>
          <p:nvPr/>
        </p:nvSpPr>
        <p:spPr>
          <a:xfrm>
            <a:off x="1400175" y="3396555"/>
            <a:ext cx="84772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사업 수익 경쟁력 극대화</a:t>
            </a:r>
            <a:endParaRPr lang="en-US" sz="1125" dirty="0"/>
          </a:p>
        </p:txBody>
      </p:sp>
      <p:sp>
        <p:nvSpPr>
          <p:cNvPr id="79" name="Shape 76"/>
          <p:cNvSpPr/>
          <p:nvPr/>
        </p:nvSpPr>
        <p:spPr>
          <a:xfrm>
            <a:off x="2247900" y="4501455"/>
            <a:ext cx="16002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0" name="Shape 77"/>
          <p:cNvSpPr/>
          <p:nvPr/>
        </p:nvSpPr>
        <p:spPr>
          <a:xfrm>
            <a:off x="3838575" y="3291780"/>
            <a:ext cx="9525" cy="1219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1" name="Text 78"/>
          <p:cNvSpPr/>
          <p:nvPr/>
        </p:nvSpPr>
        <p:spPr>
          <a:xfrm>
            <a:off x="2305050" y="3396555"/>
            <a:ext cx="155257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 경주대회 수익금액</a:t>
            </a:r>
            <a:endParaRPr lang="en-US" sz="1125" dirty="0"/>
          </a:p>
        </p:txBody>
      </p:sp>
      <p:sp>
        <p:nvSpPr>
          <p:cNvPr id="82" name="Shape 79"/>
          <p:cNvSpPr/>
          <p:nvPr/>
        </p:nvSpPr>
        <p:spPr>
          <a:xfrm>
            <a:off x="3848100" y="4501455"/>
            <a:ext cx="1428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3" name="Shape 80"/>
          <p:cNvSpPr/>
          <p:nvPr/>
        </p:nvSpPr>
        <p:spPr>
          <a:xfrm>
            <a:off x="5267325" y="3291780"/>
            <a:ext cx="9525" cy="1219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4" name="Text 81"/>
          <p:cNvSpPr/>
          <p:nvPr/>
        </p:nvSpPr>
        <p:spPr>
          <a:xfrm>
            <a:off x="3838575" y="3396555"/>
            <a:ext cx="143827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억원</a:t>
            </a:r>
            <a:endParaRPr lang="en-US" sz="1125" dirty="0"/>
          </a:p>
        </p:txBody>
      </p:sp>
      <p:sp>
        <p:nvSpPr>
          <p:cNvPr id="85" name="Shape 82"/>
          <p:cNvSpPr/>
          <p:nvPr/>
        </p:nvSpPr>
        <p:spPr>
          <a:xfrm>
            <a:off x="5276850" y="4501455"/>
            <a:ext cx="8001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6" name="Shape 83"/>
          <p:cNvSpPr/>
          <p:nvPr/>
        </p:nvSpPr>
        <p:spPr>
          <a:xfrm>
            <a:off x="6067425" y="3291780"/>
            <a:ext cx="9525" cy="1219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7" name="Text 84"/>
          <p:cNvSpPr/>
          <p:nvPr/>
        </p:nvSpPr>
        <p:spPr>
          <a:xfrm>
            <a:off x="5267325" y="3396555"/>
            <a:ext cx="80962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  <a:endParaRPr lang="en-US" sz="1125" dirty="0"/>
          </a:p>
        </p:txBody>
      </p:sp>
      <p:sp>
        <p:nvSpPr>
          <p:cNvPr id="88" name="Shape 85"/>
          <p:cNvSpPr/>
          <p:nvPr/>
        </p:nvSpPr>
        <p:spPr>
          <a:xfrm>
            <a:off x="6076950" y="4501455"/>
            <a:ext cx="952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9" name="Shape 86"/>
          <p:cNvSpPr/>
          <p:nvPr/>
        </p:nvSpPr>
        <p:spPr>
          <a:xfrm>
            <a:off x="7019925" y="3291780"/>
            <a:ext cx="9525" cy="1219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0" name="Text 87"/>
          <p:cNvSpPr/>
          <p:nvPr/>
        </p:nvSpPr>
        <p:spPr>
          <a:xfrm>
            <a:off x="6067425" y="3396555"/>
            <a:ext cx="96202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  <a:endParaRPr lang="en-US" sz="1125" dirty="0"/>
          </a:p>
        </p:txBody>
      </p:sp>
      <p:sp>
        <p:nvSpPr>
          <p:cNvPr id="91" name="Shape 88"/>
          <p:cNvSpPr/>
          <p:nvPr/>
        </p:nvSpPr>
        <p:spPr>
          <a:xfrm>
            <a:off x="7029450" y="4501455"/>
            <a:ext cx="952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2" name="Shape 89"/>
          <p:cNvSpPr/>
          <p:nvPr/>
        </p:nvSpPr>
        <p:spPr>
          <a:xfrm>
            <a:off x="7972425" y="3291780"/>
            <a:ext cx="9525" cy="1219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3" name="Text 90"/>
          <p:cNvSpPr/>
          <p:nvPr/>
        </p:nvSpPr>
        <p:spPr>
          <a:xfrm>
            <a:off x="7019925" y="3396555"/>
            <a:ext cx="96202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</a:t>
            </a:r>
            <a:endParaRPr lang="en-US" sz="1125" dirty="0"/>
          </a:p>
        </p:txBody>
      </p:sp>
      <p:sp>
        <p:nvSpPr>
          <p:cNvPr id="94" name="Shape 91"/>
          <p:cNvSpPr/>
          <p:nvPr/>
        </p:nvSpPr>
        <p:spPr>
          <a:xfrm>
            <a:off x="7981950" y="4501455"/>
            <a:ext cx="16954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5" name="Shape 92"/>
          <p:cNvSpPr/>
          <p:nvPr/>
        </p:nvSpPr>
        <p:spPr>
          <a:xfrm>
            <a:off x="885825" y="4510980"/>
            <a:ext cx="523875" cy="1219200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96" name="Shape 93"/>
          <p:cNvSpPr/>
          <p:nvPr/>
        </p:nvSpPr>
        <p:spPr>
          <a:xfrm>
            <a:off x="885825" y="5720655"/>
            <a:ext cx="5238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7" name="Shape 94"/>
          <p:cNvSpPr/>
          <p:nvPr/>
        </p:nvSpPr>
        <p:spPr>
          <a:xfrm>
            <a:off x="1400175" y="4510980"/>
            <a:ext cx="9525" cy="1219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8" name="Text 95"/>
          <p:cNvSpPr/>
          <p:nvPr/>
        </p:nvSpPr>
        <p:spPr>
          <a:xfrm>
            <a:off x="876300" y="4615755"/>
            <a:ext cx="53340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highlight>
                  <a:srgbClr val="EEF8E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 세스</a:t>
            </a:r>
            <a:endParaRPr lang="en-US" sz="1125" dirty="0"/>
          </a:p>
        </p:txBody>
      </p:sp>
      <p:sp>
        <p:nvSpPr>
          <p:cNvPr id="99" name="Shape 96"/>
          <p:cNvSpPr/>
          <p:nvPr/>
        </p:nvSpPr>
        <p:spPr>
          <a:xfrm>
            <a:off x="1409700" y="5720655"/>
            <a:ext cx="8382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0" name="Shape 97"/>
          <p:cNvSpPr/>
          <p:nvPr/>
        </p:nvSpPr>
        <p:spPr>
          <a:xfrm>
            <a:off x="2238375" y="4510980"/>
            <a:ext cx="9525" cy="1219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1" name="Text 98"/>
          <p:cNvSpPr/>
          <p:nvPr/>
        </p:nvSpPr>
        <p:spPr>
          <a:xfrm>
            <a:off x="1400175" y="4615755"/>
            <a:ext cx="84772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사업 수익 경쟁력 극대화</a:t>
            </a:r>
            <a:endParaRPr lang="en-US" sz="1125" dirty="0"/>
          </a:p>
        </p:txBody>
      </p:sp>
      <p:sp>
        <p:nvSpPr>
          <p:cNvPr id="102" name="Shape 99"/>
          <p:cNvSpPr/>
          <p:nvPr/>
        </p:nvSpPr>
        <p:spPr>
          <a:xfrm>
            <a:off x="2247900" y="5720655"/>
            <a:ext cx="16002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3" name="Shape 100"/>
          <p:cNvSpPr/>
          <p:nvPr/>
        </p:nvSpPr>
        <p:spPr>
          <a:xfrm>
            <a:off x="3838575" y="4510980"/>
            <a:ext cx="9525" cy="1219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4" name="Text 101"/>
          <p:cNvSpPr/>
          <p:nvPr/>
        </p:nvSpPr>
        <p:spPr>
          <a:xfrm>
            <a:off x="2305050" y="4615755"/>
            <a:ext cx="155257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참가팀 수</a:t>
            </a:r>
            <a:endParaRPr lang="en-US" sz="1125" dirty="0"/>
          </a:p>
        </p:txBody>
      </p:sp>
      <p:sp>
        <p:nvSpPr>
          <p:cNvPr id="105" name="Shape 102"/>
          <p:cNvSpPr/>
          <p:nvPr/>
        </p:nvSpPr>
        <p:spPr>
          <a:xfrm>
            <a:off x="3848100" y="5720655"/>
            <a:ext cx="1428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6" name="Shape 103"/>
          <p:cNvSpPr/>
          <p:nvPr/>
        </p:nvSpPr>
        <p:spPr>
          <a:xfrm>
            <a:off x="5267325" y="4510980"/>
            <a:ext cx="9525" cy="1219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7" name="Text 104"/>
          <p:cNvSpPr/>
          <p:nvPr/>
        </p:nvSpPr>
        <p:spPr>
          <a:xfrm>
            <a:off x="3838575" y="4615755"/>
            <a:ext cx="143827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en-US" sz="1125" dirty="0"/>
          </a:p>
        </p:txBody>
      </p:sp>
      <p:sp>
        <p:nvSpPr>
          <p:cNvPr id="108" name="Shape 105"/>
          <p:cNvSpPr/>
          <p:nvPr/>
        </p:nvSpPr>
        <p:spPr>
          <a:xfrm>
            <a:off x="5276850" y="5720655"/>
            <a:ext cx="8001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9" name="Shape 106"/>
          <p:cNvSpPr/>
          <p:nvPr/>
        </p:nvSpPr>
        <p:spPr>
          <a:xfrm>
            <a:off x="6067425" y="4510980"/>
            <a:ext cx="9525" cy="1219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0" name="Text 107"/>
          <p:cNvSpPr/>
          <p:nvPr/>
        </p:nvSpPr>
        <p:spPr>
          <a:xfrm>
            <a:off x="5267325" y="4615755"/>
            <a:ext cx="80962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125" dirty="0"/>
          </a:p>
        </p:txBody>
      </p:sp>
      <p:sp>
        <p:nvSpPr>
          <p:cNvPr id="111" name="Shape 108"/>
          <p:cNvSpPr/>
          <p:nvPr/>
        </p:nvSpPr>
        <p:spPr>
          <a:xfrm>
            <a:off x="6076950" y="5720655"/>
            <a:ext cx="952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2" name="Shape 109"/>
          <p:cNvSpPr/>
          <p:nvPr/>
        </p:nvSpPr>
        <p:spPr>
          <a:xfrm>
            <a:off x="7019925" y="4510980"/>
            <a:ext cx="9525" cy="1219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3" name="Text 110"/>
          <p:cNvSpPr/>
          <p:nvPr/>
        </p:nvSpPr>
        <p:spPr>
          <a:xfrm>
            <a:off x="6067425" y="4615755"/>
            <a:ext cx="96202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125" dirty="0"/>
          </a:p>
        </p:txBody>
      </p:sp>
      <p:sp>
        <p:nvSpPr>
          <p:cNvPr id="114" name="Shape 111"/>
          <p:cNvSpPr/>
          <p:nvPr/>
        </p:nvSpPr>
        <p:spPr>
          <a:xfrm>
            <a:off x="7029450" y="5720655"/>
            <a:ext cx="952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5" name="Shape 112"/>
          <p:cNvSpPr/>
          <p:nvPr/>
        </p:nvSpPr>
        <p:spPr>
          <a:xfrm>
            <a:off x="7972425" y="4510980"/>
            <a:ext cx="9525" cy="12192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6" name="Text 113"/>
          <p:cNvSpPr/>
          <p:nvPr/>
        </p:nvSpPr>
        <p:spPr>
          <a:xfrm>
            <a:off x="7019925" y="4615755"/>
            <a:ext cx="96202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+00</a:t>
            </a:r>
            <a:endParaRPr lang="en-US" sz="1125" dirty="0"/>
          </a:p>
        </p:txBody>
      </p:sp>
      <p:sp>
        <p:nvSpPr>
          <p:cNvPr id="117" name="Shape 114"/>
          <p:cNvSpPr/>
          <p:nvPr/>
        </p:nvSpPr>
        <p:spPr>
          <a:xfrm>
            <a:off x="7981950" y="5720655"/>
            <a:ext cx="16954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8" name="Shape 115"/>
          <p:cNvSpPr/>
          <p:nvPr/>
        </p:nvSpPr>
        <p:spPr>
          <a:xfrm>
            <a:off x="885825" y="5730180"/>
            <a:ext cx="523875" cy="819150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119" name="Shape 116"/>
          <p:cNvSpPr/>
          <p:nvPr/>
        </p:nvSpPr>
        <p:spPr>
          <a:xfrm>
            <a:off x="885825" y="6539805"/>
            <a:ext cx="5238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0" name="Shape 117"/>
          <p:cNvSpPr/>
          <p:nvPr/>
        </p:nvSpPr>
        <p:spPr>
          <a:xfrm>
            <a:off x="1400175" y="573018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1" name="Text 118"/>
          <p:cNvSpPr/>
          <p:nvPr/>
        </p:nvSpPr>
        <p:spPr>
          <a:xfrm>
            <a:off x="876300" y="5834955"/>
            <a:ext cx="5334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highlight>
                  <a:srgbClr val="EEF8E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 세스</a:t>
            </a:r>
            <a:endParaRPr lang="en-US" sz="1125" dirty="0"/>
          </a:p>
        </p:txBody>
      </p:sp>
      <p:sp>
        <p:nvSpPr>
          <p:cNvPr id="122" name="Shape 119"/>
          <p:cNvSpPr/>
          <p:nvPr/>
        </p:nvSpPr>
        <p:spPr>
          <a:xfrm>
            <a:off x="1409700" y="6539805"/>
            <a:ext cx="8382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3" name="Shape 120"/>
          <p:cNvSpPr/>
          <p:nvPr/>
        </p:nvSpPr>
        <p:spPr>
          <a:xfrm>
            <a:off x="2238375" y="573018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4" name="Text 121"/>
          <p:cNvSpPr/>
          <p:nvPr/>
        </p:nvSpPr>
        <p:spPr>
          <a:xfrm>
            <a:off x="1400175" y="5834955"/>
            <a:ext cx="8477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가치 증대</a:t>
            </a:r>
            <a:endParaRPr lang="en-US" sz="1125" dirty="0"/>
          </a:p>
        </p:txBody>
      </p:sp>
      <p:sp>
        <p:nvSpPr>
          <p:cNvPr id="125" name="Shape 122"/>
          <p:cNvSpPr/>
          <p:nvPr/>
        </p:nvSpPr>
        <p:spPr>
          <a:xfrm>
            <a:off x="2247900" y="6539805"/>
            <a:ext cx="16002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6" name="Shape 123"/>
          <p:cNvSpPr/>
          <p:nvPr/>
        </p:nvSpPr>
        <p:spPr>
          <a:xfrm>
            <a:off x="3838575" y="573018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7" name="Text 124"/>
          <p:cNvSpPr/>
          <p:nvPr/>
        </p:nvSpPr>
        <p:spPr>
          <a:xfrm>
            <a:off x="2305050" y="5834955"/>
            <a:ext cx="15525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협찬·후원사 수</a:t>
            </a:r>
            <a:endParaRPr lang="en-US" sz="1125" dirty="0"/>
          </a:p>
        </p:txBody>
      </p:sp>
      <p:sp>
        <p:nvSpPr>
          <p:cNvPr id="128" name="Shape 125"/>
          <p:cNvSpPr/>
          <p:nvPr/>
        </p:nvSpPr>
        <p:spPr>
          <a:xfrm>
            <a:off x="3848100" y="6539805"/>
            <a:ext cx="1428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9" name="Shape 126"/>
          <p:cNvSpPr/>
          <p:nvPr/>
        </p:nvSpPr>
        <p:spPr>
          <a:xfrm>
            <a:off x="5267325" y="573018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0" name="Text 127"/>
          <p:cNvSpPr/>
          <p:nvPr/>
        </p:nvSpPr>
        <p:spPr>
          <a:xfrm>
            <a:off x="3838575" y="5834955"/>
            <a:ext cx="143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endParaRPr lang="en-US" sz="1125" dirty="0"/>
          </a:p>
        </p:txBody>
      </p:sp>
      <p:sp>
        <p:nvSpPr>
          <p:cNvPr id="131" name="Shape 128"/>
          <p:cNvSpPr/>
          <p:nvPr/>
        </p:nvSpPr>
        <p:spPr>
          <a:xfrm>
            <a:off x="5276850" y="6539805"/>
            <a:ext cx="8001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2" name="Shape 129"/>
          <p:cNvSpPr/>
          <p:nvPr/>
        </p:nvSpPr>
        <p:spPr>
          <a:xfrm>
            <a:off x="6067425" y="573018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3" name="Text 130"/>
          <p:cNvSpPr/>
          <p:nvPr/>
        </p:nvSpPr>
        <p:spPr>
          <a:xfrm>
            <a:off x="5267325" y="5834955"/>
            <a:ext cx="8096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125" dirty="0"/>
          </a:p>
        </p:txBody>
      </p:sp>
      <p:sp>
        <p:nvSpPr>
          <p:cNvPr id="134" name="Shape 131"/>
          <p:cNvSpPr/>
          <p:nvPr/>
        </p:nvSpPr>
        <p:spPr>
          <a:xfrm>
            <a:off x="6076950" y="6539805"/>
            <a:ext cx="952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5" name="Shape 132"/>
          <p:cNvSpPr/>
          <p:nvPr/>
        </p:nvSpPr>
        <p:spPr>
          <a:xfrm>
            <a:off x="7019925" y="573018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6" name="Text 133"/>
          <p:cNvSpPr/>
          <p:nvPr/>
        </p:nvSpPr>
        <p:spPr>
          <a:xfrm>
            <a:off x="6067425" y="5834955"/>
            <a:ext cx="9620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125" dirty="0"/>
          </a:p>
        </p:txBody>
      </p:sp>
      <p:sp>
        <p:nvSpPr>
          <p:cNvPr id="137" name="Shape 134"/>
          <p:cNvSpPr/>
          <p:nvPr/>
        </p:nvSpPr>
        <p:spPr>
          <a:xfrm>
            <a:off x="7029450" y="6539805"/>
            <a:ext cx="952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8" name="Shape 135"/>
          <p:cNvSpPr/>
          <p:nvPr/>
        </p:nvSpPr>
        <p:spPr>
          <a:xfrm>
            <a:off x="7972425" y="5730180"/>
            <a:ext cx="9525" cy="8191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9" name="Text 136"/>
          <p:cNvSpPr/>
          <p:nvPr/>
        </p:nvSpPr>
        <p:spPr>
          <a:xfrm>
            <a:off x="7019925" y="5834955"/>
            <a:ext cx="9620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+00</a:t>
            </a:r>
            <a:endParaRPr lang="en-US" sz="1125" dirty="0"/>
          </a:p>
        </p:txBody>
      </p:sp>
      <p:sp>
        <p:nvSpPr>
          <p:cNvPr id="140" name="Shape 137"/>
          <p:cNvSpPr/>
          <p:nvPr/>
        </p:nvSpPr>
        <p:spPr>
          <a:xfrm>
            <a:off x="7981950" y="6539805"/>
            <a:ext cx="16954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41" name="Shape 138"/>
          <p:cNvSpPr/>
          <p:nvPr/>
        </p:nvSpPr>
        <p:spPr>
          <a:xfrm>
            <a:off x="885825" y="6549330"/>
            <a:ext cx="523875" cy="809625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142" name="Shape 139"/>
          <p:cNvSpPr/>
          <p:nvPr/>
        </p:nvSpPr>
        <p:spPr>
          <a:xfrm>
            <a:off x="1400175" y="6549330"/>
            <a:ext cx="9525" cy="8096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43" name="Text 140"/>
          <p:cNvSpPr/>
          <p:nvPr/>
        </p:nvSpPr>
        <p:spPr>
          <a:xfrm>
            <a:off x="876300" y="6654105"/>
            <a:ext cx="5334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highlight>
                  <a:srgbClr val="EEF8E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성장</a:t>
            </a:r>
            <a:endParaRPr lang="en-US" sz="1125" dirty="0"/>
          </a:p>
        </p:txBody>
      </p:sp>
      <p:sp>
        <p:nvSpPr>
          <p:cNvPr id="144" name="Shape 141"/>
          <p:cNvSpPr/>
          <p:nvPr/>
        </p:nvSpPr>
        <p:spPr>
          <a:xfrm>
            <a:off x="2238375" y="6549330"/>
            <a:ext cx="9525" cy="8096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45" name="Text 142"/>
          <p:cNvSpPr/>
          <p:nvPr/>
        </p:nvSpPr>
        <p:spPr>
          <a:xfrm>
            <a:off x="1400175" y="6654105"/>
            <a:ext cx="8477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 역량 강화</a:t>
            </a:r>
            <a:endParaRPr lang="en-US" sz="1125" dirty="0"/>
          </a:p>
        </p:txBody>
      </p:sp>
      <p:sp>
        <p:nvSpPr>
          <p:cNvPr id="146" name="Shape 143"/>
          <p:cNvSpPr/>
          <p:nvPr/>
        </p:nvSpPr>
        <p:spPr>
          <a:xfrm>
            <a:off x="3838575" y="6549330"/>
            <a:ext cx="9525" cy="8096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47" name="Text 144"/>
          <p:cNvSpPr/>
          <p:nvPr/>
        </p:nvSpPr>
        <p:spPr>
          <a:xfrm>
            <a:off x="2305050" y="6654105"/>
            <a:ext cx="15525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Manual 작성 건수</a:t>
            </a:r>
            <a:endParaRPr lang="en-US" sz="1125" dirty="0"/>
          </a:p>
        </p:txBody>
      </p:sp>
      <p:sp>
        <p:nvSpPr>
          <p:cNvPr id="148" name="Shape 145"/>
          <p:cNvSpPr/>
          <p:nvPr/>
        </p:nvSpPr>
        <p:spPr>
          <a:xfrm>
            <a:off x="5267325" y="6549330"/>
            <a:ext cx="9525" cy="8096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49" name="Text 146"/>
          <p:cNvSpPr/>
          <p:nvPr/>
        </p:nvSpPr>
        <p:spPr>
          <a:xfrm>
            <a:off x="3838575" y="6654105"/>
            <a:ext cx="143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endParaRPr lang="en-US" sz="1125" dirty="0"/>
          </a:p>
        </p:txBody>
      </p:sp>
      <p:sp>
        <p:nvSpPr>
          <p:cNvPr id="150" name="Shape 147"/>
          <p:cNvSpPr/>
          <p:nvPr/>
        </p:nvSpPr>
        <p:spPr>
          <a:xfrm>
            <a:off x="6067425" y="6549330"/>
            <a:ext cx="9525" cy="8096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51" name="Text 148"/>
          <p:cNvSpPr/>
          <p:nvPr/>
        </p:nvSpPr>
        <p:spPr>
          <a:xfrm>
            <a:off x="5267325" y="6654105"/>
            <a:ext cx="8096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</a:t>
            </a:r>
            <a:endParaRPr lang="en-US" sz="1125" dirty="0"/>
          </a:p>
        </p:txBody>
      </p:sp>
      <p:sp>
        <p:nvSpPr>
          <p:cNvPr id="152" name="Shape 149"/>
          <p:cNvSpPr/>
          <p:nvPr/>
        </p:nvSpPr>
        <p:spPr>
          <a:xfrm>
            <a:off x="7019925" y="6549330"/>
            <a:ext cx="9525" cy="8096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53" name="Text 150"/>
          <p:cNvSpPr/>
          <p:nvPr/>
        </p:nvSpPr>
        <p:spPr>
          <a:xfrm>
            <a:off x="6067425" y="6654105"/>
            <a:ext cx="9620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125" dirty="0"/>
          </a:p>
        </p:txBody>
      </p:sp>
      <p:sp>
        <p:nvSpPr>
          <p:cNvPr id="154" name="Shape 151"/>
          <p:cNvSpPr/>
          <p:nvPr/>
        </p:nvSpPr>
        <p:spPr>
          <a:xfrm>
            <a:off x="7972425" y="6549330"/>
            <a:ext cx="9525" cy="8096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55" name="Text 152"/>
          <p:cNvSpPr/>
          <p:nvPr/>
        </p:nvSpPr>
        <p:spPr>
          <a:xfrm>
            <a:off x="7019925" y="6654105"/>
            <a:ext cx="9620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</a:t>
            </a:r>
            <a:endParaRPr lang="en-US" sz="1125" dirty="0"/>
          </a:p>
        </p:txBody>
      </p:sp>
      <p:sp>
        <p:nvSpPr>
          <p:cNvPr id="156" name="Text 153"/>
          <p:cNvSpPr/>
          <p:nvPr/>
        </p:nvSpPr>
        <p:spPr>
          <a:xfrm>
            <a:off x="9957197" y="7110413"/>
            <a:ext cx="24407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75" y="133350"/>
            <a:ext cx="419100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7650" y="876300"/>
            <a:ext cx="10201275" cy="9525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" name="Text 1"/>
          <p:cNvSpPr/>
          <p:nvPr/>
        </p:nvSpPr>
        <p:spPr>
          <a:xfrm>
            <a:off x="438150" y="104775"/>
            <a:ext cx="961453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spc="-49" kern="0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실행과제 ①</a:t>
            </a:r>
            <a:endParaRPr lang="en-US" sz="2475" dirty="0"/>
          </a:p>
        </p:txBody>
      </p:sp>
      <p:sp>
        <p:nvSpPr>
          <p:cNvPr id="5" name="Shape 2"/>
          <p:cNvSpPr/>
          <p:nvPr/>
        </p:nvSpPr>
        <p:spPr>
          <a:xfrm>
            <a:off x="742950" y="1257300"/>
            <a:ext cx="9286875" cy="357188"/>
          </a:xfrm>
          <a:prstGeom prst="rect">
            <a:avLst/>
          </a:prstGeom>
          <a:solidFill>
            <a:srgbClr val="215732"/>
          </a:solidFill>
          <a:ln/>
        </p:spPr>
      </p:sp>
      <p:sp>
        <p:nvSpPr>
          <p:cNvPr id="6" name="Shape 3"/>
          <p:cNvSpPr/>
          <p:nvPr/>
        </p:nvSpPr>
        <p:spPr>
          <a:xfrm>
            <a:off x="2066925" y="1257300"/>
            <a:ext cx="9525" cy="357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42950" y="1333500"/>
            <a:ext cx="132397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전략목표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00425" y="1257300"/>
            <a:ext cx="9525" cy="357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2076450" y="1333500"/>
            <a:ext cx="132397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명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4825" y="1257300"/>
            <a:ext cx="9525" cy="357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3409950" y="1333500"/>
            <a:ext cx="90487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목표치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67700" y="1257300"/>
            <a:ext cx="9525" cy="357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4303157" y="1333500"/>
            <a:ext cx="398573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BSC 과제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82100" y="1257300"/>
            <a:ext cx="9525" cy="357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8277225" y="1333500"/>
            <a:ext cx="90487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91625" y="1333500"/>
            <a:ext cx="8382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42950" y="4386263"/>
            <a:ext cx="92868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Shape 15"/>
          <p:cNvSpPr/>
          <p:nvPr/>
        </p:nvSpPr>
        <p:spPr>
          <a:xfrm>
            <a:off x="742950" y="1614488"/>
            <a:ext cx="9525" cy="27813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9" name="Shape 16"/>
          <p:cNvSpPr/>
          <p:nvPr/>
        </p:nvSpPr>
        <p:spPr>
          <a:xfrm>
            <a:off x="10020300" y="1614488"/>
            <a:ext cx="9525" cy="27813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Shape 17"/>
          <p:cNvSpPr/>
          <p:nvPr/>
        </p:nvSpPr>
        <p:spPr>
          <a:xfrm>
            <a:off x="752475" y="1614488"/>
            <a:ext cx="1333500" cy="695325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21" name="Shape 18"/>
          <p:cNvSpPr/>
          <p:nvPr/>
        </p:nvSpPr>
        <p:spPr>
          <a:xfrm>
            <a:off x="752475" y="2300288"/>
            <a:ext cx="1333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2" name="Shape 19"/>
          <p:cNvSpPr/>
          <p:nvPr/>
        </p:nvSpPr>
        <p:spPr>
          <a:xfrm>
            <a:off x="2076450" y="1614488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3" name="Text 20"/>
          <p:cNvSpPr/>
          <p:nvPr/>
        </p:nvSpPr>
        <p:spPr>
          <a:xfrm>
            <a:off x="771525" y="1728788"/>
            <a:ext cx="128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사업 수익 경쟁력 극대화</a:t>
            </a:r>
            <a:endParaRPr lang="en-US" sz="1125" dirty="0"/>
          </a:p>
        </p:txBody>
      </p:sp>
      <p:sp>
        <p:nvSpPr>
          <p:cNvPr id="24" name="Shape 21"/>
          <p:cNvSpPr/>
          <p:nvPr/>
        </p:nvSpPr>
        <p:spPr>
          <a:xfrm>
            <a:off x="2085975" y="2300288"/>
            <a:ext cx="1333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Shape 22"/>
          <p:cNvSpPr/>
          <p:nvPr/>
        </p:nvSpPr>
        <p:spPr>
          <a:xfrm>
            <a:off x="3409950" y="1614488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6" name="Text 23"/>
          <p:cNvSpPr/>
          <p:nvPr/>
        </p:nvSpPr>
        <p:spPr>
          <a:xfrm>
            <a:off x="2105025" y="1728788"/>
            <a:ext cx="128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 경주대회 수익금액</a:t>
            </a:r>
            <a:endParaRPr lang="en-US" sz="1125" dirty="0"/>
          </a:p>
        </p:txBody>
      </p:sp>
      <p:sp>
        <p:nvSpPr>
          <p:cNvPr id="27" name="Shape 24"/>
          <p:cNvSpPr/>
          <p:nvPr/>
        </p:nvSpPr>
        <p:spPr>
          <a:xfrm>
            <a:off x="3419475" y="2300288"/>
            <a:ext cx="9144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8" name="Shape 25"/>
          <p:cNvSpPr/>
          <p:nvPr/>
        </p:nvSpPr>
        <p:spPr>
          <a:xfrm>
            <a:off x="4324350" y="1614488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6"/>
          <p:cNvSpPr/>
          <p:nvPr/>
        </p:nvSpPr>
        <p:spPr>
          <a:xfrm>
            <a:off x="3419475" y="1728788"/>
            <a:ext cx="904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0.0억원</a:t>
            </a:r>
            <a:endParaRPr lang="en-US" sz="1125" dirty="0"/>
          </a:p>
        </p:txBody>
      </p:sp>
      <p:sp>
        <p:nvSpPr>
          <p:cNvPr id="30" name="Shape 27"/>
          <p:cNvSpPr/>
          <p:nvPr/>
        </p:nvSpPr>
        <p:spPr>
          <a:xfrm>
            <a:off x="4333875" y="2300288"/>
            <a:ext cx="39528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1" name="Shape 28"/>
          <p:cNvSpPr/>
          <p:nvPr/>
        </p:nvSpPr>
        <p:spPr>
          <a:xfrm>
            <a:off x="8277225" y="1614488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2" name="Text 29"/>
          <p:cNvSpPr/>
          <p:nvPr/>
        </p:nvSpPr>
        <p:spPr>
          <a:xfrm>
            <a:off x="4448175" y="1728788"/>
            <a:ext cx="38333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대회 이슈화 통한 참가 규모 확대 · 참가팀 및 후원·협찬사 확대</a:t>
            </a:r>
            <a:endParaRPr lang="en-US" sz="1125" dirty="0"/>
          </a:p>
        </p:txBody>
      </p:sp>
      <p:sp>
        <p:nvSpPr>
          <p:cNvPr id="33" name="Shape 30"/>
          <p:cNvSpPr/>
          <p:nvPr/>
        </p:nvSpPr>
        <p:spPr>
          <a:xfrm>
            <a:off x="8286750" y="2300288"/>
            <a:ext cx="9144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4" name="Shape 31"/>
          <p:cNvSpPr/>
          <p:nvPr/>
        </p:nvSpPr>
        <p:spPr>
          <a:xfrm>
            <a:off x="9191625" y="1614488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5" name="Text 32"/>
          <p:cNvSpPr/>
          <p:nvPr/>
        </p:nvSpPr>
        <p:spPr>
          <a:xfrm>
            <a:off x="8286750" y="1728788"/>
            <a:ext cx="904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○○○</a:t>
            </a:r>
            <a:endParaRPr lang="en-US" sz="1125" dirty="0"/>
          </a:p>
        </p:txBody>
      </p:sp>
      <p:sp>
        <p:nvSpPr>
          <p:cNvPr id="36" name="Shape 33"/>
          <p:cNvSpPr/>
          <p:nvPr/>
        </p:nvSpPr>
        <p:spPr>
          <a:xfrm>
            <a:off x="9201150" y="2300288"/>
            <a:ext cx="8382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7" name="Text 34"/>
          <p:cNvSpPr/>
          <p:nvPr/>
        </p:nvSpPr>
        <p:spPr>
          <a:xfrm>
            <a:off x="9201150" y="1728788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125" dirty="0"/>
          </a:p>
        </p:txBody>
      </p:sp>
      <p:sp>
        <p:nvSpPr>
          <p:cNvPr id="38" name="Shape 35"/>
          <p:cNvSpPr/>
          <p:nvPr/>
        </p:nvSpPr>
        <p:spPr>
          <a:xfrm>
            <a:off x="752475" y="2309813"/>
            <a:ext cx="1333500" cy="695325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39" name="Shape 36"/>
          <p:cNvSpPr/>
          <p:nvPr/>
        </p:nvSpPr>
        <p:spPr>
          <a:xfrm>
            <a:off x="752475" y="2995613"/>
            <a:ext cx="1333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0" name="Shape 37"/>
          <p:cNvSpPr/>
          <p:nvPr/>
        </p:nvSpPr>
        <p:spPr>
          <a:xfrm>
            <a:off x="2076450" y="2309813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1" name="Text 38"/>
          <p:cNvSpPr/>
          <p:nvPr/>
        </p:nvSpPr>
        <p:spPr>
          <a:xfrm>
            <a:off x="771525" y="2424113"/>
            <a:ext cx="128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사업 수익 경쟁력 극대화</a:t>
            </a:r>
            <a:endParaRPr lang="en-US" sz="1125" dirty="0"/>
          </a:p>
        </p:txBody>
      </p:sp>
      <p:sp>
        <p:nvSpPr>
          <p:cNvPr id="42" name="Shape 39"/>
          <p:cNvSpPr/>
          <p:nvPr/>
        </p:nvSpPr>
        <p:spPr>
          <a:xfrm>
            <a:off x="2085975" y="2995613"/>
            <a:ext cx="1333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3" name="Shape 40"/>
          <p:cNvSpPr/>
          <p:nvPr/>
        </p:nvSpPr>
        <p:spPr>
          <a:xfrm>
            <a:off x="3409950" y="2309813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4" name="Text 41"/>
          <p:cNvSpPr/>
          <p:nvPr/>
        </p:nvSpPr>
        <p:spPr>
          <a:xfrm>
            <a:off x="2105025" y="2424113"/>
            <a:ext cx="128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 설명회 수익금액</a:t>
            </a:r>
            <a:endParaRPr lang="en-US" sz="1125" dirty="0"/>
          </a:p>
        </p:txBody>
      </p:sp>
      <p:sp>
        <p:nvSpPr>
          <p:cNvPr id="45" name="Shape 42"/>
          <p:cNvSpPr/>
          <p:nvPr/>
        </p:nvSpPr>
        <p:spPr>
          <a:xfrm>
            <a:off x="3419475" y="2995613"/>
            <a:ext cx="9144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6" name="Shape 43"/>
          <p:cNvSpPr/>
          <p:nvPr/>
        </p:nvSpPr>
        <p:spPr>
          <a:xfrm>
            <a:off x="4324350" y="2309813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7" name="Text 44"/>
          <p:cNvSpPr/>
          <p:nvPr/>
        </p:nvSpPr>
        <p:spPr>
          <a:xfrm>
            <a:off x="3419475" y="2424113"/>
            <a:ext cx="904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0.0억원</a:t>
            </a:r>
            <a:endParaRPr lang="en-US" sz="1125" dirty="0"/>
          </a:p>
        </p:txBody>
      </p:sp>
      <p:sp>
        <p:nvSpPr>
          <p:cNvPr id="48" name="Shape 45"/>
          <p:cNvSpPr/>
          <p:nvPr/>
        </p:nvSpPr>
        <p:spPr>
          <a:xfrm>
            <a:off x="4333875" y="2995613"/>
            <a:ext cx="39528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9" name="Shape 46"/>
          <p:cNvSpPr/>
          <p:nvPr/>
        </p:nvSpPr>
        <p:spPr>
          <a:xfrm>
            <a:off x="8277225" y="2309813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0" name="Text 47"/>
          <p:cNvSpPr/>
          <p:nvPr/>
        </p:nvSpPr>
        <p:spPr>
          <a:xfrm>
            <a:off x="4448175" y="2424113"/>
            <a:ext cx="38333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참가 기관 고정화 통한 수익 안정화 · 신규 기관 영입 통한 규모 확대</a:t>
            </a:r>
            <a:endParaRPr lang="en-US" sz="1125" dirty="0"/>
          </a:p>
        </p:txBody>
      </p:sp>
      <p:sp>
        <p:nvSpPr>
          <p:cNvPr id="51" name="Shape 48"/>
          <p:cNvSpPr/>
          <p:nvPr/>
        </p:nvSpPr>
        <p:spPr>
          <a:xfrm>
            <a:off x="8286750" y="2995613"/>
            <a:ext cx="9144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2" name="Shape 49"/>
          <p:cNvSpPr/>
          <p:nvPr/>
        </p:nvSpPr>
        <p:spPr>
          <a:xfrm>
            <a:off x="9191625" y="2309813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3" name="Text 50"/>
          <p:cNvSpPr/>
          <p:nvPr/>
        </p:nvSpPr>
        <p:spPr>
          <a:xfrm>
            <a:off x="8286750" y="2424113"/>
            <a:ext cx="904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○○○</a:t>
            </a:r>
            <a:endParaRPr lang="en-US" sz="1125" dirty="0"/>
          </a:p>
        </p:txBody>
      </p:sp>
      <p:sp>
        <p:nvSpPr>
          <p:cNvPr id="54" name="Shape 51"/>
          <p:cNvSpPr/>
          <p:nvPr/>
        </p:nvSpPr>
        <p:spPr>
          <a:xfrm>
            <a:off x="9201150" y="2995613"/>
            <a:ext cx="8382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5" name="Text 52"/>
          <p:cNvSpPr/>
          <p:nvPr/>
        </p:nvSpPr>
        <p:spPr>
          <a:xfrm>
            <a:off x="9201150" y="2424113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125" dirty="0"/>
          </a:p>
        </p:txBody>
      </p:sp>
      <p:sp>
        <p:nvSpPr>
          <p:cNvPr id="56" name="Shape 53"/>
          <p:cNvSpPr/>
          <p:nvPr/>
        </p:nvSpPr>
        <p:spPr>
          <a:xfrm>
            <a:off x="752475" y="3005138"/>
            <a:ext cx="1333500" cy="695325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57" name="Shape 54"/>
          <p:cNvSpPr/>
          <p:nvPr/>
        </p:nvSpPr>
        <p:spPr>
          <a:xfrm>
            <a:off x="752475" y="3690937"/>
            <a:ext cx="1333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8" name="Shape 55"/>
          <p:cNvSpPr/>
          <p:nvPr/>
        </p:nvSpPr>
        <p:spPr>
          <a:xfrm>
            <a:off x="2076450" y="3005138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9" name="Text 56"/>
          <p:cNvSpPr/>
          <p:nvPr/>
        </p:nvSpPr>
        <p:spPr>
          <a:xfrm>
            <a:off x="771525" y="3119438"/>
            <a:ext cx="128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가치 증대</a:t>
            </a:r>
            <a:endParaRPr lang="en-US" sz="1125" dirty="0"/>
          </a:p>
        </p:txBody>
      </p:sp>
      <p:sp>
        <p:nvSpPr>
          <p:cNvPr id="60" name="Shape 57"/>
          <p:cNvSpPr/>
          <p:nvPr/>
        </p:nvSpPr>
        <p:spPr>
          <a:xfrm>
            <a:off x="2085975" y="3690937"/>
            <a:ext cx="13335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1" name="Shape 58"/>
          <p:cNvSpPr/>
          <p:nvPr/>
        </p:nvSpPr>
        <p:spPr>
          <a:xfrm>
            <a:off x="3409950" y="3005138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2" name="Text 59"/>
          <p:cNvSpPr/>
          <p:nvPr/>
        </p:nvSpPr>
        <p:spPr>
          <a:xfrm>
            <a:off x="2105025" y="3119438"/>
            <a:ext cx="128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 입장객수</a:t>
            </a:r>
            <a:endParaRPr lang="en-US" sz="1125" dirty="0"/>
          </a:p>
        </p:txBody>
      </p:sp>
      <p:sp>
        <p:nvSpPr>
          <p:cNvPr id="63" name="Shape 60"/>
          <p:cNvSpPr/>
          <p:nvPr/>
        </p:nvSpPr>
        <p:spPr>
          <a:xfrm>
            <a:off x="3419475" y="3690937"/>
            <a:ext cx="9144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4" name="Shape 61"/>
          <p:cNvSpPr/>
          <p:nvPr/>
        </p:nvSpPr>
        <p:spPr>
          <a:xfrm>
            <a:off x="4324350" y="3005138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5" name="Text 62"/>
          <p:cNvSpPr/>
          <p:nvPr/>
        </p:nvSpPr>
        <p:spPr>
          <a:xfrm>
            <a:off x="3419475" y="3119438"/>
            <a:ext cx="904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0,000명</a:t>
            </a:r>
            <a:endParaRPr lang="en-US" sz="1125" dirty="0"/>
          </a:p>
        </p:txBody>
      </p:sp>
      <p:sp>
        <p:nvSpPr>
          <p:cNvPr id="66" name="Shape 63"/>
          <p:cNvSpPr/>
          <p:nvPr/>
        </p:nvSpPr>
        <p:spPr>
          <a:xfrm>
            <a:off x="4333875" y="3690937"/>
            <a:ext cx="39528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7" name="Shape 64"/>
          <p:cNvSpPr/>
          <p:nvPr/>
        </p:nvSpPr>
        <p:spPr>
          <a:xfrm>
            <a:off x="8277225" y="3005138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8" name="Text 65"/>
          <p:cNvSpPr/>
          <p:nvPr/>
        </p:nvSpPr>
        <p:spPr>
          <a:xfrm>
            <a:off x="4448175" y="3119438"/>
            <a:ext cx="38333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협회와 수익 분배 구조 명확화 · 기업 협찬 확대</a:t>
            </a:r>
            <a:endParaRPr lang="en-US" sz="1125" dirty="0"/>
          </a:p>
        </p:txBody>
      </p:sp>
      <p:sp>
        <p:nvSpPr>
          <p:cNvPr id="69" name="Shape 66"/>
          <p:cNvSpPr/>
          <p:nvPr/>
        </p:nvSpPr>
        <p:spPr>
          <a:xfrm>
            <a:off x="8286750" y="3690937"/>
            <a:ext cx="9144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0" name="Shape 67"/>
          <p:cNvSpPr/>
          <p:nvPr/>
        </p:nvSpPr>
        <p:spPr>
          <a:xfrm>
            <a:off x="9191625" y="3005138"/>
            <a:ext cx="9525" cy="6953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1" name="Text 68"/>
          <p:cNvSpPr/>
          <p:nvPr/>
        </p:nvSpPr>
        <p:spPr>
          <a:xfrm>
            <a:off x="8286750" y="3119438"/>
            <a:ext cx="904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○○○</a:t>
            </a:r>
            <a:endParaRPr lang="en-US" sz="1125" dirty="0"/>
          </a:p>
        </p:txBody>
      </p:sp>
      <p:sp>
        <p:nvSpPr>
          <p:cNvPr id="72" name="Shape 69"/>
          <p:cNvSpPr/>
          <p:nvPr/>
        </p:nvSpPr>
        <p:spPr>
          <a:xfrm>
            <a:off x="9201150" y="3690937"/>
            <a:ext cx="8382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3" name="Text 70"/>
          <p:cNvSpPr/>
          <p:nvPr/>
        </p:nvSpPr>
        <p:spPr>
          <a:xfrm>
            <a:off x="9201150" y="3119438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125" dirty="0"/>
          </a:p>
        </p:txBody>
      </p:sp>
      <p:sp>
        <p:nvSpPr>
          <p:cNvPr id="74" name="Shape 71"/>
          <p:cNvSpPr/>
          <p:nvPr/>
        </p:nvSpPr>
        <p:spPr>
          <a:xfrm>
            <a:off x="752475" y="3700463"/>
            <a:ext cx="1333500" cy="685800"/>
          </a:xfrm>
          <a:prstGeom prst="rect">
            <a:avLst/>
          </a:prstGeom>
          <a:solidFill>
            <a:srgbClr val="EEF8E0"/>
          </a:solidFill>
          <a:ln/>
        </p:spPr>
      </p:sp>
      <p:sp>
        <p:nvSpPr>
          <p:cNvPr id="75" name="Shape 72"/>
          <p:cNvSpPr/>
          <p:nvPr/>
        </p:nvSpPr>
        <p:spPr>
          <a:xfrm>
            <a:off x="2076450" y="3700463"/>
            <a:ext cx="9525" cy="6858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6" name="Text 73"/>
          <p:cNvSpPr/>
          <p:nvPr/>
        </p:nvSpPr>
        <p:spPr>
          <a:xfrm>
            <a:off x="771525" y="3814763"/>
            <a:ext cx="128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사업 확장</a:t>
            </a:r>
            <a:endParaRPr lang="en-US" sz="1125" dirty="0"/>
          </a:p>
        </p:txBody>
      </p:sp>
      <p:sp>
        <p:nvSpPr>
          <p:cNvPr id="77" name="Shape 74"/>
          <p:cNvSpPr/>
          <p:nvPr/>
        </p:nvSpPr>
        <p:spPr>
          <a:xfrm>
            <a:off x="3409950" y="3700463"/>
            <a:ext cx="9525" cy="6858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8" name="Text 75"/>
          <p:cNvSpPr/>
          <p:nvPr/>
        </p:nvSpPr>
        <p:spPr>
          <a:xfrm>
            <a:off x="2105025" y="3814763"/>
            <a:ext cx="128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사업 건수</a:t>
            </a:r>
            <a:endParaRPr lang="en-US" sz="1125" dirty="0"/>
          </a:p>
        </p:txBody>
      </p:sp>
      <p:sp>
        <p:nvSpPr>
          <p:cNvPr id="79" name="Shape 76"/>
          <p:cNvSpPr/>
          <p:nvPr/>
        </p:nvSpPr>
        <p:spPr>
          <a:xfrm>
            <a:off x="4324350" y="3700463"/>
            <a:ext cx="9525" cy="6858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0" name="Text 77"/>
          <p:cNvSpPr/>
          <p:nvPr/>
        </p:nvSpPr>
        <p:spPr>
          <a:xfrm>
            <a:off x="3419475" y="3814763"/>
            <a:ext cx="904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1125" dirty="0"/>
          </a:p>
        </p:txBody>
      </p:sp>
      <p:sp>
        <p:nvSpPr>
          <p:cNvPr id="81" name="Shape 78"/>
          <p:cNvSpPr/>
          <p:nvPr/>
        </p:nvSpPr>
        <p:spPr>
          <a:xfrm>
            <a:off x="8277225" y="3700463"/>
            <a:ext cx="9525" cy="6858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2" name="Text 79"/>
          <p:cNvSpPr/>
          <p:nvPr/>
        </p:nvSpPr>
        <p:spPr>
          <a:xfrm>
            <a:off x="4448175" y="3814763"/>
            <a:ext cx="38333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 사업 0건 기획 및 연착륙 · 운영 Manual 작성</a:t>
            </a:r>
            <a:endParaRPr lang="en-US" sz="1125" dirty="0"/>
          </a:p>
        </p:txBody>
      </p:sp>
      <p:sp>
        <p:nvSpPr>
          <p:cNvPr id="83" name="Shape 80"/>
          <p:cNvSpPr/>
          <p:nvPr/>
        </p:nvSpPr>
        <p:spPr>
          <a:xfrm>
            <a:off x="9191625" y="3700463"/>
            <a:ext cx="9525" cy="6858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4" name="Text 81"/>
          <p:cNvSpPr/>
          <p:nvPr/>
        </p:nvSpPr>
        <p:spPr>
          <a:xfrm>
            <a:off x="8286750" y="3814763"/>
            <a:ext cx="904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○○○</a:t>
            </a:r>
            <a:endParaRPr lang="en-US" sz="1125" dirty="0"/>
          </a:p>
        </p:txBody>
      </p:sp>
      <p:sp>
        <p:nvSpPr>
          <p:cNvPr id="85" name="Text 82"/>
          <p:cNvSpPr/>
          <p:nvPr/>
        </p:nvSpPr>
        <p:spPr>
          <a:xfrm>
            <a:off x="9201150" y="3814763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1125" dirty="0"/>
          </a:p>
        </p:txBody>
      </p:sp>
      <p:sp>
        <p:nvSpPr>
          <p:cNvPr id="86" name="Text 83"/>
          <p:cNvSpPr/>
          <p:nvPr/>
        </p:nvSpPr>
        <p:spPr>
          <a:xfrm>
            <a:off x="9957197" y="7110413"/>
            <a:ext cx="24407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75" y="133350"/>
            <a:ext cx="419100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7650" y="876300"/>
            <a:ext cx="10201275" cy="9525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" name="Shape 1"/>
          <p:cNvSpPr/>
          <p:nvPr/>
        </p:nvSpPr>
        <p:spPr>
          <a:xfrm>
            <a:off x="381000" y="6934200"/>
            <a:ext cx="982980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" name="Shape 2"/>
          <p:cNvSpPr/>
          <p:nvPr/>
        </p:nvSpPr>
        <p:spPr>
          <a:xfrm>
            <a:off x="381000" y="990600"/>
            <a:ext cx="9525" cy="59531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" name="Shape 3"/>
          <p:cNvSpPr/>
          <p:nvPr/>
        </p:nvSpPr>
        <p:spPr>
          <a:xfrm>
            <a:off x="10201275" y="990600"/>
            <a:ext cx="9525" cy="59531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" name="Shape 4"/>
          <p:cNvSpPr/>
          <p:nvPr/>
        </p:nvSpPr>
        <p:spPr>
          <a:xfrm>
            <a:off x="390525" y="990600"/>
            <a:ext cx="1524000" cy="442913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8" name="Shape 5"/>
          <p:cNvSpPr/>
          <p:nvPr/>
        </p:nvSpPr>
        <p:spPr>
          <a:xfrm>
            <a:off x="390525" y="1423988"/>
            <a:ext cx="15240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104900"/>
            <a:ext cx="14478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목표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914525" y="1423988"/>
            <a:ext cx="34099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Shape 8"/>
          <p:cNvSpPr/>
          <p:nvPr/>
        </p:nvSpPr>
        <p:spPr>
          <a:xfrm>
            <a:off x="5314950" y="990600"/>
            <a:ext cx="9525" cy="44291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" name="Text 9"/>
          <p:cNvSpPr/>
          <p:nvPr/>
        </p:nvSpPr>
        <p:spPr>
          <a:xfrm>
            <a:off x="1958626" y="1104900"/>
            <a:ext cx="331222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뉴플랫폼 고도화 / 품질 유지 및 안정화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24475" y="990600"/>
            <a:ext cx="1562100" cy="442913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14" name="Shape 11"/>
          <p:cNvSpPr/>
          <p:nvPr/>
        </p:nvSpPr>
        <p:spPr>
          <a:xfrm>
            <a:off x="5324475" y="1423988"/>
            <a:ext cx="15621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5362575" y="1104900"/>
            <a:ext cx="14859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86575" y="1423988"/>
            <a:ext cx="3333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7" name="Text 14"/>
          <p:cNvSpPr/>
          <p:nvPr/>
        </p:nvSpPr>
        <p:spPr>
          <a:xfrm>
            <a:off x="6931819" y="1104900"/>
            <a:ext cx="324326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안정성 확보 및 품질 유지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90525" y="1433513"/>
            <a:ext cx="1524000" cy="442913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19" name="Shape 16"/>
          <p:cNvSpPr/>
          <p:nvPr/>
        </p:nvSpPr>
        <p:spPr>
          <a:xfrm>
            <a:off x="390525" y="1866900"/>
            <a:ext cx="15240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1547813"/>
            <a:ext cx="14478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과제명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914525" y="1866900"/>
            <a:ext cx="34099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2" name="Shape 19"/>
          <p:cNvSpPr/>
          <p:nvPr/>
        </p:nvSpPr>
        <p:spPr>
          <a:xfrm>
            <a:off x="5314950" y="1433513"/>
            <a:ext cx="9525" cy="44291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3" name="Text 20"/>
          <p:cNvSpPr/>
          <p:nvPr/>
        </p:nvSpPr>
        <p:spPr>
          <a:xfrm>
            <a:off x="1958626" y="1547813"/>
            <a:ext cx="331222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디자인 가이드 정의 및 템플릿화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324475" y="1433513"/>
            <a:ext cx="1562100" cy="442913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25" name="Shape 22"/>
          <p:cNvSpPr/>
          <p:nvPr/>
        </p:nvSpPr>
        <p:spPr>
          <a:xfrm>
            <a:off x="5324475" y="1866900"/>
            <a:ext cx="15621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5362575" y="1547813"/>
            <a:ext cx="14859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담당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886575" y="1866900"/>
            <a:ext cx="3333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8" name="Text 25"/>
          <p:cNvSpPr/>
          <p:nvPr/>
        </p:nvSpPr>
        <p:spPr>
          <a:xfrm>
            <a:off x="6931819" y="1547813"/>
            <a:ext cx="324326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○○○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90525" y="1876425"/>
            <a:ext cx="1524000" cy="442913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30" name="Shape 27"/>
          <p:cNvSpPr/>
          <p:nvPr/>
        </p:nvSpPr>
        <p:spPr>
          <a:xfrm>
            <a:off x="390525" y="2309813"/>
            <a:ext cx="15240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428625" y="1990725"/>
            <a:ext cx="14478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지표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914525" y="2309813"/>
            <a:ext cx="34099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3" name="Shape 30"/>
          <p:cNvSpPr/>
          <p:nvPr/>
        </p:nvSpPr>
        <p:spPr>
          <a:xfrm>
            <a:off x="5314950" y="1876425"/>
            <a:ext cx="9525" cy="44291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4" name="Text 31"/>
          <p:cNvSpPr/>
          <p:nvPr/>
        </p:nvSpPr>
        <p:spPr>
          <a:xfrm>
            <a:off x="1958626" y="1990725"/>
            <a:ext cx="331222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적용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324475" y="1876425"/>
            <a:ext cx="1562100" cy="442913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36" name="Shape 33"/>
          <p:cNvSpPr/>
          <p:nvPr/>
        </p:nvSpPr>
        <p:spPr>
          <a:xfrm>
            <a:off x="5324475" y="2309813"/>
            <a:ext cx="15621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5362575" y="1990725"/>
            <a:ext cx="14859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 목표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886575" y="2309813"/>
            <a:ext cx="3333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9" name="Text 36"/>
          <p:cNvSpPr/>
          <p:nvPr/>
        </p:nvSpPr>
        <p:spPr>
          <a:xfrm>
            <a:off x="6931819" y="1990725"/>
            <a:ext cx="324326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기능 0건 이상 반영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390525" y="2319338"/>
            <a:ext cx="1524000" cy="1090613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1" name="Shape 38"/>
          <p:cNvSpPr/>
          <p:nvPr/>
        </p:nvSpPr>
        <p:spPr>
          <a:xfrm>
            <a:off x="390525" y="3400425"/>
            <a:ext cx="15240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820936" y="2646536"/>
            <a:ext cx="73937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18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63401" y="2859881"/>
            <a:ext cx="1054447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18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(현황 및 이슈)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914525" y="3400425"/>
            <a:ext cx="8286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5" name="Text 42"/>
          <p:cNvSpPr/>
          <p:nvPr/>
        </p:nvSpPr>
        <p:spPr>
          <a:xfrm>
            <a:off x="2105025" y="2452688"/>
            <a:ext cx="8154353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개편 이후 서비스 품질을 일관성 있게 유지할 수 있도록 스타일 가이드 내재화가 필요합니다. · 비슷한 기능과 UI/UX 패턴을 매번 새로 개발하는 상황이 지속되고 있습니다. · 외부 협업 및 커뮤니케이션 상황에서 서비스의 기준을 명확하게 제시해야 합니다.</a:t>
            </a:r>
            <a:endParaRPr lang="en-US" sz="1125" dirty="0"/>
          </a:p>
        </p:txBody>
      </p:sp>
      <p:sp>
        <p:nvSpPr>
          <p:cNvPr id="46" name="Shape 43"/>
          <p:cNvSpPr/>
          <p:nvPr/>
        </p:nvSpPr>
        <p:spPr>
          <a:xfrm>
            <a:off x="390525" y="3409950"/>
            <a:ext cx="1524000" cy="819150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7" name="Shape 44"/>
          <p:cNvSpPr/>
          <p:nvPr/>
        </p:nvSpPr>
        <p:spPr>
          <a:xfrm>
            <a:off x="390525" y="4219575"/>
            <a:ext cx="15240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5"/>
          <p:cNvSpPr/>
          <p:nvPr/>
        </p:nvSpPr>
        <p:spPr>
          <a:xfrm>
            <a:off x="428625" y="3543300"/>
            <a:ext cx="14478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아이디어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1914525" y="4219575"/>
            <a:ext cx="8286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0" name="Text 47"/>
          <p:cNvSpPr/>
          <p:nvPr/>
        </p:nvSpPr>
        <p:spPr>
          <a:xfrm>
            <a:off x="2105025" y="3543300"/>
            <a:ext cx="815435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개편된 디자인에 기반하여 신규 기능에 대한 스타일 가이드를 정의합니다. · 사용성이 높은 디자인 요소와 UI/UX 패턴을 템플릿화합니다.</a:t>
            </a:r>
            <a:endParaRPr lang="en-US" sz="1125" dirty="0"/>
          </a:p>
        </p:txBody>
      </p:sp>
      <p:sp>
        <p:nvSpPr>
          <p:cNvPr id="51" name="Shape 48"/>
          <p:cNvSpPr/>
          <p:nvPr/>
        </p:nvSpPr>
        <p:spPr>
          <a:xfrm>
            <a:off x="390525" y="4229100"/>
            <a:ext cx="1524000" cy="1090613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52" name="Shape 49"/>
          <p:cNvSpPr/>
          <p:nvPr/>
        </p:nvSpPr>
        <p:spPr>
          <a:xfrm>
            <a:off x="390525" y="5310188"/>
            <a:ext cx="15240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/>
          <p:nvPr/>
        </p:nvSpPr>
        <p:spPr>
          <a:xfrm>
            <a:off x="428625" y="4362450"/>
            <a:ext cx="1447800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914525" y="5310188"/>
            <a:ext cx="82867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5" name="Text 52"/>
          <p:cNvSpPr/>
          <p:nvPr/>
        </p:nvSpPr>
        <p:spPr>
          <a:xfrm>
            <a:off x="2105025" y="4362450"/>
            <a:ext cx="8154353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뉴플랫폼 디자인 스타일 내재화로 신규 서비스·기능의 품질을 일관되게 유지합니다. · 디자인 템플릿 관리로 재작업에 쓰이던 리소스를 절감합니다. · 조직 내외부 구성원 간 협업 체계를 구축하고 기준을 명확히 전달합니다.</a:t>
            </a:r>
            <a:endParaRPr lang="en-US" sz="1125" dirty="0"/>
          </a:p>
        </p:txBody>
      </p:sp>
      <p:sp>
        <p:nvSpPr>
          <p:cNvPr id="56" name="Shape 53"/>
          <p:cNvSpPr/>
          <p:nvPr/>
        </p:nvSpPr>
        <p:spPr>
          <a:xfrm>
            <a:off x="390525" y="5319713"/>
            <a:ext cx="1524000" cy="1614488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57" name="Text 54"/>
          <p:cNvSpPr/>
          <p:nvPr/>
        </p:nvSpPr>
        <p:spPr>
          <a:xfrm>
            <a:off x="428625" y="5453062"/>
            <a:ext cx="1447800" cy="138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일정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2047875" y="5414963"/>
            <a:ext cx="8020050" cy="347663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59" name="Shape 56"/>
          <p:cNvSpPr/>
          <p:nvPr/>
        </p:nvSpPr>
        <p:spPr>
          <a:xfrm>
            <a:off x="2047875" y="5414963"/>
            <a:ext cx="80200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0" name="Shape 57"/>
          <p:cNvSpPr/>
          <p:nvPr/>
        </p:nvSpPr>
        <p:spPr>
          <a:xfrm>
            <a:off x="2047875" y="5414963"/>
            <a:ext cx="9525" cy="3476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1" name="Shape 58"/>
          <p:cNvSpPr/>
          <p:nvPr/>
        </p:nvSpPr>
        <p:spPr>
          <a:xfrm>
            <a:off x="10058400" y="5414963"/>
            <a:ext cx="9525" cy="34766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2" name="Text 59"/>
          <p:cNvSpPr/>
          <p:nvPr/>
        </p:nvSpPr>
        <p:spPr>
          <a:xfrm>
            <a:off x="1937099" y="5491163"/>
            <a:ext cx="824160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20○○년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2047875" y="5762625"/>
            <a:ext cx="8020050" cy="342900"/>
          </a:xfrm>
          <a:prstGeom prst="rect">
            <a:avLst/>
          </a:prstGeom>
          <a:solidFill>
            <a:srgbClr val="EFEFE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714625" y="5772150"/>
            <a:ext cx="9525" cy="323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5" name="Text 62"/>
          <p:cNvSpPr/>
          <p:nvPr/>
        </p:nvSpPr>
        <p:spPr>
          <a:xfrm>
            <a:off x="2019300" y="5838825"/>
            <a:ext cx="733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125" dirty="0"/>
          </a:p>
        </p:txBody>
      </p:sp>
      <p:sp>
        <p:nvSpPr>
          <p:cNvPr id="66" name="Shape 63"/>
          <p:cNvSpPr/>
          <p:nvPr/>
        </p:nvSpPr>
        <p:spPr>
          <a:xfrm>
            <a:off x="3381375" y="5772150"/>
            <a:ext cx="9525" cy="323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7" name="Text 64"/>
          <p:cNvSpPr/>
          <p:nvPr/>
        </p:nvSpPr>
        <p:spPr>
          <a:xfrm>
            <a:off x="2686050" y="5838825"/>
            <a:ext cx="733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125" dirty="0"/>
          </a:p>
        </p:txBody>
      </p:sp>
      <p:sp>
        <p:nvSpPr>
          <p:cNvPr id="68" name="Shape 65"/>
          <p:cNvSpPr/>
          <p:nvPr/>
        </p:nvSpPr>
        <p:spPr>
          <a:xfrm>
            <a:off x="4048125" y="5772150"/>
            <a:ext cx="9525" cy="323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9" name="Text 66"/>
          <p:cNvSpPr/>
          <p:nvPr/>
        </p:nvSpPr>
        <p:spPr>
          <a:xfrm>
            <a:off x="3352800" y="5838825"/>
            <a:ext cx="733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125" dirty="0"/>
          </a:p>
        </p:txBody>
      </p:sp>
      <p:sp>
        <p:nvSpPr>
          <p:cNvPr id="70" name="Shape 67"/>
          <p:cNvSpPr/>
          <p:nvPr/>
        </p:nvSpPr>
        <p:spPr>
          <a:xfrm>
            <a:off x="4714875" y="5772150"/>
            <a:ext cx="9525" cy="323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1" name="Text 68"/>
          <p:cNvSpPr/>
          <p:nvPr/>
        </p:nvSpPr>
        <p:spPr>
          <a:xfrm>
            <a:off x="4019550" y="5838825"/>
            <a:ext cx="733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125" dirty="0"/>
          </a:p>
        </p:txBody>
      </p:sp>
      <p:sp>
        <p:nvSpPr>
          <p:cNvPr id="72" name="Shape 69"/>
          <p:cNvSpPr/>
          <p:nvPr/>
        </p:nvSpPr>
        <p:spPr>
          <a:xfrm>
            <a:off x="5381625" y="5772150"/>
            <a:ext cx="9525" cy="323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3" name="Text 70"/>
          <p:cNvSpPr/>
          <p:nvPr/>
        </p:nvSpPr>
        <p:spPr>
          <a:xfrm>
            <a:off x="4686300" y="5838825"/>
            <a:ext cx="733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125" dirty="0"/>
          </a:p>
        </p:txBody>
      </p:sp>
      <p:sp>
        <p:nvSpPr>
          <p:cNvPr id="74" name="Shape 71"/>
          <p:cNvSpPr/>
          <p:nvPr/>
        </p:nvSpPr>
        <p:spPr>
          <a:xfrm>
            <a:off x="6048375" y="5772150"/>
            <a:ext cx="9525" cy="323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5" name="Text 72"/>
          <p:cNvSpPr/>
          <p:nvPr/>
        </p:nvSpPr>
        <p:spPr>
          <a:xfrm>
            <a:off x="5353050" y="5838825"/>
            <a:ext cx="733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125" dirty="0"/>
          </a:p>
        </p:txBody>
      </p:sp>
      <p:sp>
        <p:nvSpPr>
          <p:cNvPr id="76" name="Shape 73"/>
          <p:cNvSpPr/>
          <p:nvPr/>
        </p:nvSpPr>
        <p:spPr>
          <a:xfrm>
            <a:off x="6715125" y="5772150"/>
            <a:ext cx="9525" cy="323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7" name="Text 74"/>
          <p:cNvSpPr/>
          <p:nvPr/>
        </p:nvSpPr>
        <p:spPr>
          <a:xfrm>
            <a:off x="6019800" y="5838825"/>
            <a:ext cx="733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1125" dirty="0"/>
          </a:p>
        </p:txBody>
      </p:sp>
      <p:sp>
        <p:nvSpPr>
          <p:cNvPr id="78" name="Shape 75"/>
          <p:cNvSpPr/>
          <p:nvPr/>
        </p:nvSpPr>
        <p:spPr>
          <a:xfrm>
            <a:off x="7381875" y="5772150"/>
            <a:ext cx="9525" cy="323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9" name="Text 76"/>
          <p:cNvSpPr/>
          <p:nvPr/>
        </p:nvSpPr>
        <p:spPr>
          <a:xfrm>
            <a:off x="6686550" y="5838825"/>
            <a:ext cx="733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</a:t>
            </a:r>
            <a:endParaRPr lang="en-US" sz="1125" dirty="0"/>
          </a:p>
        </p:txBody>
      </p:sp>
      <p:sp>
        <p:nvSpPr>
          <p:cNvPr id="80" name="Shape 77"/>
          <p:cNvSpPr/>
          <p:nvPr/>
        </p:nvSpPr>
        <p:spPr>
          <a:xfrm>
            <a:off x="8048625" y="5772150"/>
            <a:ext cx="9525" cy="323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1" name="Text 78"/>
          <p:cNvSpPr/>
          <p:nvPr/>
        </p:nvSpPr>
        <p:spPr>
          <a:xfrm>
            <a:off x="7353300" y="5838825"/>
            <a:ext cx="733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1125" dirty="0"/>
          </a:p>
        </p:txBody>
      </p:sp>
      <p:sp>
        <p:nvSpPr>
          <p:cNvPr id="82" name="Shape 79"/>
          <p:cNvSpPr/>
          <p:nvPr/>
        </p:nvSpPr>
        <p:spPr>
          <a:xfrm>
            <a:off x="8715375" y="5772150"/>
            <a:ext cx="9525" cy="323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3" name="Text 80"/>
          <p:cNvSpPr/>
          <p:nvPr/>
        </p:nvSpPr>
        <p:spPr>
          <a:xfrm>
            <a:off x="8020050" y="5838825"/>
            <a:ext cx="733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</a:t>
            </a:r>
            <a:endParaRPr lang="en-US" sz="1125" dirty="0"/>
          </a:p>
        </p:txBody>
      </p:sp>
      <p:sp>
        <p:nvSpPr>
          <p:cNvPr id="84" name="Shape 81"/>
          <p:cNvSpPr/>
          <p:nvPr/>
        </p:nvSpPr>
        <p:spPr>
          <a:xfrm>
            <a:off x="9382125" y="5772150"/>
            <a:ext cx="9525" cy="323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5" name="Text 82"/>
          <p:cNvSpPr/>
          <p:nvPr/>
        </p:nvSpPr>
        <p:spPr>
          <a:xfrm>
            <a:off x="8686800" y="5838825"/>
            <a:ext cx="733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125" dirty="0"/>
          </a:p>
        </p:txBody>
      </p:sp>
      <p:sp>
        <p:nvSpPr>
          <p:cNvPr id="86" name="Text 83"/>
          <p:cNvSpPr/>
          <p:nvPr/>
        </p:nvSpPr>
        <p:spPr>
          <a:xfrm>
            <a:off x="9353550" y="5838825"/>
            <a:ext cx="742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1125" dirty="0"/>
          </a:p>
        </p:txBody>
      </p:sp>
      <p:sp>
        <p:nvSpPr>
          <p:cNvPr id="87" name="Shape 84"/>
          <p:cNvSpPr/>
          <p:nvPr/>
        </p:nvSpPr>
        <p:spPr>
          <a:xfrm>
            <a:off x="2047875" y="6810375"/>
            <a:ext cx="8020050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8" name="Shape 85"/>
          <p:cNvSpPr/>
          <p:nvPr/>
        </p:nvSpPr>
        <p:spPr>
          <a:xfrm>
            <a:off x="2047875" y="6105525"/>
            <a:ext cx="9525" cy="71437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9" name="Shape 86"/>
          <p:cNvSpPr/>
          <p:nvPr/>
        </p:nvSpPr>
        <p:spPr>
          <a:xfrm>
            <a:off x="10058400" y="6105525"/>
            <a:ext cx="9525" cy="71437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0" name="Shape 87"/>
          <p:cNvSpPr/>
          <p:nvPr/>
        </p:nvSpPr>
        <p:spPr>
          <a:xfrm>
            <a:off x="2714625" y="6105525"/>
            <a:ext cx="9525" cy="704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1" name="Shape 88"/>
          <p:cNvSpPr/>
          <p:nvPr/>
        </p:nvSpPr>
        <p:spPr>
          <a:xfrm>
            <a:off x="3381375" y="6105525"/>
            <a:ext cx="9525" cy="704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2" name="Shape 89"/>
          <p:cNvSpPr/>
          <p:nvPr/>
        </p:nvSpPr>
        <p:spPr>
          <a:xfrm>
            <a:off x="4048125" y="6105525"/>
            <a:ext cx="9525" cy="704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3" name="Shape 90"/>
          <p:cNvSpPr/>
          <p:nvPr/>
        </p:nvSpPr>
        <p:spPr>
          <a:xfrm>
            <a:off x="4714875" y="6105525"/>
            <a:ext cx="9525" cy="704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4" name="Shape 91"/>
          <p:cNvSpPr/>
          <p:nvPr/>
        </p:nvSpPr>
        <p:spPr>
          <a:xfrm>
            <a:off x="5381625" y="6105525"/>
            <a:ext cx="9525" cy="704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5" name="Shape 92"/>
          <p:cNvSpPr/>
          <p:nvPr/>
        </p:nvSpPr>
        <p:spPr>
          <a:xfrm>
            <a:off x="6048375" y="6105525"/>
            <a:ext cx="9525" cy="704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6" name="Shape 93"/>
          <p:cNvSpPr/>
          <p:nvPr/>
        </p:nvSpPr>
        <p:spPr>
          <a:xfrm>
            <a:off x="6715125" y="6105525"/>
            <a:ext cx="9525" cy="704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7" name="Shape 94"/>
          <p:cNvSpPr/>
          <p:nvPr/>
        </p:nvSpPr>
        <p:spPr>
          <a:xfrm>
            <a:off x="7381875" y="6105525"/>
            <a:ext cx="9525" cy="704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8" name="Shape 95"/>
          <p:cNvSpPr/>
          <p:nvPr/>
        </p:nvSpPr>
        <p:spPr>
          <a:xfrm>
            <a:off x="8048625" y="6105525"/>
            <a:ext cx="9525" cy="704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9" name="Shape 96"/>
          <p:cNvSpPr/>
          <p:nvPr/>
        </p:nvSpPr>
        <p:spPr>
          <a:xfrm>
            <a:off x="8715375" y="6105525"/>
            <a:ext cx="9525" cy="704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0" name="Shape 97"/>
          <p:cNvSpPr/>
          <p:nvPr/>
        </p:nvSpPr>
        <p:spPr>
          <a:xfrm>
            <a:off x="9382125" y="6105525"/>
            <a:ext cx="9525" cy="70485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1" name="Shape 98"/>
          <p:cNvSpPr/>
          <p:nvPr/>
        </p:nvSpPr>
        <p:spPr>
          <a:xfrm>
            <a:off x="3057525" y="6315075"/>
            <a:ext cx="1832223" cy="76200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/>
        </p:spPr>
      </p:sp>
      <p:sp>
        <p:nvSpPr>
          <p:cNvPr id="102" name="Text 99"/>
          <p:cNvSpPr/>
          <p:nvPr/>
        </p:nvSpPr>
        <p:spPr>
          <a:xfrm>
            <a:off x="4985742" y="6248400"/>
            <a:ext cx="361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endParaRPr lang="en-US" sz="1125" dirty="0"/>
          </a:p>
        </p:txBody>
      </p:sp>
      <p:sp>
        <p:nvSpPr>
          <p:cNvPr id="103" name="Shape 100"/>
          <p:cNvSpPr/>
          <p:nvPr/>
        </p:nvSpPr>
        <p:spPr>
          <a:xfrm>
            <a:off x="6393879" y="6315075"/>
            <a:ext cx="1664196" cy="76200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/>
        </p:spPr>
      </p:sp>
      <p:sp>
        <p:nvSpPr>
          <p:cNvPr id="104" name="Text 101"/>
          <p:cNvSpPr/>
          <p:nvPr/>
        </p:nvSpPr>
        <p:spPr>
          <a:xfrm>
            <a:off x="8138145" y="6248400"/>
            <a:ext cx="361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endParaRPr lang="en-US" sz="1125" dirty="0"/>
          </a:p>
        </p:txBody>
      </p:sp>
      <p:sp>
        <p:nvSpPr>
          <p:cNvPr id="105" name="Shape 102"/>
          <p:cNvSpPr/>
          <p:nvPr/>
        </p:nvSpPr>
        <p:spPr>
          <a:xfrm>
            <a:off x="4025578" y="6562725"/>
            <a:ext cx="2120205" cy="76200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/>
        </p:spPr>
      </p:sp>
      <p:sp>
        <p:nvSpPr>
          <p:cNvPr id="106" name="Text 103"/>
          <p:cNvSpPr/>
          <p:nvPr/>
        </p:nvSpPr>
        <p:spPr>
          <a:xfrm>
            <a:off x="6257925" y="6496050"/>
            <a:ext cx="5048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endParaRPr lang="en-US" sz="1125" dirty="0"/>
          </a:p>
        </p:txBody>
      </p:sp>
      <p:sp>
        <p:nvSpPr>
          <p:cNvPr id="107" name="Shape 104"/>
          <p:cNvSpPr/>
          <p:nvPr/>
        </p:nvSpPr>
        <p:spPr>
          <a:xfrm>
            <a:off x="7241977" y="6562725"/>
            <a:ext cx="1800225" cy="76200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/>
        </p:spPr>
      </p:sp>
      <p:sp>
        <p:nvSpPr>
          <p:cNvPr id="108" name="Text 105"/>
          <p:cNvSpPr/>
          <p:nvPr/>
        </p:nvSpPr>
        <p:spPr>
          <a:xfrm>
            <a:off x="9138270" y="6496050"/>
            <a:ext cx="5048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endParaRPr lang="en-US" sz="1125" dirty="0"/>
          </a:p>
        </p:txBody>
      </p:sp>
      <p:sp>
        <p:nvSpPr>
          <p:cNvPr id="109" name="Text 106"/>
          <p:cNvSpPr/>
          <p:nvPr/>
        </p:nvSpPr>
        <p:spPr>
          <a:xfrm>
            <a:off x="9957197" y="7110413"/>
            <a:ext cx="24407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75" y="133350"/>
            <a:ext cx="419100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7650" y="876300"/>
            <a:ext cx="10201275" cy="9525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" name="Text 1"/>
          <p:cNvSpPr/>
          <p:nvPr/>
        </p:nvSpPr>
        <p:spPr>
          <a:xfrm>
            <a:off x="438150" y="123825"/>
            <a:ext cx="961453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spc="-49" kern="0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구성비 차트 서식</a:t>
            </a:r>
            <a:endParaRPr lang="en-US" sz="2475" dirty="0"/>
          </a:p>
        </p:txBody>
      </p:sp>
      <p:sp>
        <p:nvSpPr>
          <p:cNvPr id="5" name="Text 2"/>
          <p:cNvSpPr/>
          <p:nvPr/>
        </p:nvSpPr>
        <p:spPr>
          <a:xfrm>
            <a:off x="542925" y="1143000"/>
            <a:ext cx="44005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원형 차트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23950" y="1619250"/>
            <a:ext cx="3238500" cy="3238500"/>
          </a:xfrm>
          <a:prstGeom prst="ellipse">
            <a:avLst/>
          </a:prstGeom>
          <a:solidFill>
            <a:srgbClr val="14362D"/>
          </a:solidFill>
          <a:ln/>
        </p:spPr>
      </p:sp>
      <p:sp>
        <p:nvSpPr>
          <p:cNvPr id="7" name="Text 4"/>
          <p:cNvSpPr/>
          <p:nvPr/>
        </p:nvSpPr>
        <p:spPr>
          <a:xfrm>
            <a:off x="2705100" y="2105025"/>
            <a:ext cx="4572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6%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3476625" y="2714625"/>
            <a:ext cx="4572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2581275" y="4181475"/>
            <a:ext cx="4572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36%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1466850" y="3200400"/>
            <a:ext cx="4572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14%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1924050" y="2266950"/>
            <a:ext cx="4572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19%</a:t>
            </a:r>
            <a:endParaRPr lang="en-US" sz="1275" dirty="0"/>
          </a:p>
        </p:txBody>
      </p:sp>
      <p:sp>
        <p:nvSpPr>
          <p:cNvPr id="12" name="Text 9"/>
          <p:cNvSpPr/>
          <p:nvPr/>
        </p:nvSpPr>
        <p:spPr>
          <a:xfrm>
            <a:off x="5514975" y="1143000"/>
            <a:ext cx="44005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도넛 차트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096000" y="1619250"/>
            <a:ext cx="3238500" cy="3238500"/>
          </a:xfrm>
          <a:prstGeom prst="ellipse">
            <a:avLst/>
          </a:prstGeom>
          <a:solidFill>
            <a:srgbClr val="14362D"/>
          </a:solidFill>
          <a:ln/>
        </p:spPr>
      </p:sp>
      <p:sp>
        <p:nvSpPr>
          <p:cNvPr id="14" name="Shape 11"/>
          <p:cNvSpPr/>
          <p:nvPr/>
        </p:nvSpPr>
        <p:spPr>
          <a:xfrm>
            <a:off x="6905625" y="2428875"/>
            <a:ext cx="1619250" cy="16192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7724775" y="1895475"/>
            <a:ext cx="4572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6%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8639175" y="2638425"/>
            <a:ext cx="4572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7562850" y="4391025"/>
            <a:ext cx="4572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36%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6229350" y="3209925"/>
            <a:ext cx="4572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14%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6781800" y="2095500"/>
            <a:ext cx="4572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19%</a:t>
            </a:r>
            <a:endParaRPr lang="en-US" sz="1275" dirty="0"/>
          </a:p>
        </p:txBody>
      </p:sp>
      <p:sp>
        <p:nvSpPr>
          <p:cNvPr id="20" name="Shape 17"/>
          <p:cNvSpPr/>
          <p:nvPr/>
        </p:nvSpPr>
        <p:spPr>
          <a:xfrm>
            <a:off x="3038921" y="5293519"/>
            <a:ext cx="133350" cy="13335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21" name="Text 18"/>
          <p:cNvSpPr/>
          <p:nvPr/>
        </p:nvSpPr>
        <p:spPr>
          <a:xfrm>
            <a:off x="3248471" y="5257800"/>
            <a:ext cx="5348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973860" y="5293519"/>
            <a:ext cx="133350" cy="133350"/>
          </a:xfrm>
          <a:prstGeom prst="rect">
            <a:avLst/>
          </a:prstGeom>
          <a:solidFill>
            <a:srgbClr val="CBD5CC"/>
          </a:solidFill>
          <a:ln/>
        </p:spPr>
      </p:sp>
      <p:sp>
        <p:nvSpPr>
          <p:cNvPr id="23" name="Text 20"/>
          <p:cNvSpPr/>
          <p:nvPr/>
        </p:nvSpPr>
        <p:spPr>
          <a:xfrm>
            <a:off x="4183410" y="5257800"/>
            <a:ext cx="52350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B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97413" y="5293519"/>
            <a:ext cx="133350" cy="133350"/>
          </a:xfrm>
          <a:prstGeom prst="rect">
            <a:avLst/>
          </a:prstGeom>
          <a:solidFill>
            <a:srgbClr val="147A46"/>
          </a:solidFill>
          <a:ln/>
        </p:spPr>
      </p:sp>
      <p:sp>
        <p:nvSpPr>
          <p:cNvPr id="25" name="Text 22"/>
          <p:cNvSpPr/>
          <p:nvPr/>
        </p:nvSpPr>
        <p:spPr>
          <a:xfrm>
            <a:off x="5106963" y="5257800"/>
            <a:ext cx="53131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C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828779" y="5293519"/>
            <a:ext cx="133350" cy="133350"/>
          </a:xfrm>
          <a:prstGeom prst="rect">
            <a:avLst/>
          </a:prstGeom>
          <a:solidFill>
            <a:srgbClr val="A8C6AF"/>
          </a:solidFill>
          <a:ln/>
        </p:spPr>
      </p:sp>
      <p:sp>
        <p:nvSpPr>
          <p:cNvPr id="27" name="Text 24"/>
          <p:cNvSpPr/>
          <p:nvPr/>
        </p:nvSpPr>
        <p:spPr>
          <a:xfrm>
            <a:off x="6038329" y="5257800"/>
            <a:ext cx="54389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772721" y="5293519"/>
            <a:ext cx="133350" cy="133350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29" name="Text 26"/>
          <p:cNvSpPr/>
          <p:nvPr/>
        </p:nvSpPr>
        <p:spPr>
          <a:xfrm>
            <a:off x="6982271" y="5257800"/>
            <a:ext cx="51338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94322" y="5715000"/>
            <a:ext cx="98698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5A66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% · 자료: ○○○ 집계 · YYYY.MM.DD 기준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294322" y="6096000"/>
            <a:ext cx="9869805" cy="327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600"/>
              </a:lnSpc>
              <a:buNone/>
            </a:pPr>
            <a:r>
              <a:rPr lang="en-US" sz="14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원형과 도넛 중 하나만 남기고 다른 하나는 삭제합니다.</a:t>
            </a:r>
            <a:endParaRPr lang="en-US" sz="1425" dirty="0"/>
          </a:p>
        </p:txBody>
      </p:sp>
      <p:sp>
        <p:nvSpPr>
          <p:cNvPr id="32" name="Text 29"/>
          <p:cNvSpPr/>
          <p:nvPr/>
        </p:nvSpPr>
        <p:spPr>
          <a:xfrm>
            <a:off x="9957197" y="7110413"/>
            <a:ext cx="24407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75" y="133350"/>
            <a:ext cx="419100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7650" y="876300"/>
            <a:ext cx="10201275" cy="9525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" name="Text 1"/>
          <p:cNvSpPr/>
          <p:nvPr/>
        </p:nvSpPr>
        <p:spPr>
          <a:xfrm>
            <a:off x="438150" y="123825"/>
            <a:ext cx="961453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spc="-49" kern="0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추이 차트 서식</a:t>
            </a:r>
            <a:endParaRPr lang="en-US" sz="2475" dirty="0"/>
          </a:p>
        </p:txBody>
      </p:sp>
      <p:sp>
        <p:nvSpPr>
          <p:cNvPr id="5" name="Text 2"/>
          <p:cNvSpPr/>
          <p:nvPr/>
        </p:nvSpPr>
        <p:spPr>
          <a:xfrm>
            <a:off x="742950" y="1066800"/>
            <a:ext cx="20259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차트 · 단일 계열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88070" y="1343025"/>
            <a:ext cx="1549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F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988070" y="1724025"/>
            <a:ext cx="1549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F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988070" y="2105025"/>
            <a:ext cx="1549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F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988070" y="2486025"/>
            <a:ext cx="1549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F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988070" y="2867025"/>
            <a:ext cx="1549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F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988070" y="3248025"/>
            <a:ext cx="1549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F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1162050" y="3333750"/>
            <a:ext cx="8572500" cy="9525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3" name="Shape 10"/>
          <p:cNvSpPr/>
          <p:nvPr/>
        </p:nvSpPr>
        <p:spPr>
          <a:xfrm>
            <a:off x="1162050" y="1428750"/>
            <a:ext cx="9525" cy="1914525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4" name="Shape 11"/>
          <p:cNvSpPr/>
          <p:nvPr/>
        </p:nvSpPr>
        <p:spPr>
          <a:xfrm>
            <a:off x="1171575" y="1428750"/>
            <a:ext cx="85629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71575" y="1809750"/>
            <a:ext cx="85629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6" name="Shape 13"/>
          <p:cNvSpPr/>
          <p:nvPr/>
        </p:nvSpPr>
        <p:spPr>
          <a:xfrm>
            <a:off x="1171575" y="2190750"/>
            <a:ext cx="85629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7" name="Shape 14"/>
          <p:cNvSpPr/>
          <p:nvPr/>
        </p:nvSpPr>
        <p:spPr>
          <a:xfrm>
            <a:off x="1171575" y="2571750"/>
            <a:ext cx="85629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Shape 15"/>
          <p:cNvSpPr/>
          <p:nvPr/>
        </p:nvSpPr>
        <p:spPr>
          <a:xfrm>
            <a:off x="1171575" y="2952750"/>
            <a:ext cx="856297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9" name="Shape 16"/>
          <p:cNvSpPr/>
          <p:nvPr/>
        </p:nvSpPr>
        <p:spPr>
          <a:xfrm>
            <a:off x="1696120" y="1695450"/>
            <a:ext cx="533400" cy="163830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20" name="Shape 17"/>
          <p:cNvSpPr/>
          <p:nvPr/>
        </p:nvSpPr>
        <p:spPr>
          <a:xfrm>
            <a:off x="2859509" y="2381250"/>
            <a:ext cx="533400" cy="95250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21" name="Shape 18"/>
          <p:cNvSpPr/>
          <p:nvPr/>
        </p:nvSpPr>
        <p:spPr>
          <a:xfrm>
            <a:off x="4022899" y="2000250"/>
            <a:ext cx="533400" cy="133350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22" name="Shape 19"/>
          <p:cNvSpPr/>
          <p:nvPr/>
        </p:nvSpPr>
        <p:spPr>
          <a:xfrm>
            <a:off x="5186288" y="1619250"/>
            <a:ext cx="533400" cy="171450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23" name="Shape 20"/>
          <p:cNvSpPr/>
          <p:nvPr/>
        </p:nvSpPr>
        <p:spPr>
          <a:xfrm>
            <a:off x="6349752" y="1695450"/>
            <a:ext cx="533400" cy="163830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24" name="Shape 21"/>
          <p:cNvSpPr/>
          <p:nvPr/>
        </p:nvSpPr>
        <p:spPr>
          <a:xfrm>
            <a:off x="7513141" y="2381250"/>
            <a:ext cx="533400" cy="95250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25" name="Shape 22"/>
          <p:cNvSpPr/>
          <p:nvPr/>
        </p:nvSpPr>
        <p:spPr>
          <a:xfrm>
            <a:off x="8676531" y="2190750"/>
            <a:ext cx="533400" cy="114300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26" name="Text 23"/>
          <p:cNvSpPr/>
          <p:nvPr/>
        </p:nvSpPr>
        <p:spPr>
          <a:xfrm>
            <a:off x="1333500" y="3390900"/>
            <a:ext cx="12409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2498229" y="3390900"/>
            <a:ext cx="12410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3663032" y="3390900"/>
            <a:ext cx="12409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4827761" y="3390900"/>
            <a:ext cx="12410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5992564" y="3390900"/>
            <a:ext cx="12409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7157293" y="3390900"/>
            <a:ext cx="12410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8322097" y="3390900"/>
            <a:ext cx="12409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742950" y="3848100"/>
            <a:ext cx="195225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꺾은선 차트 · 다계열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7229698" y="3948112"/>
            <a:ext cx="190500" cy="28575"/>
          </a:xfrm>
          <a:prstGeom prst="rect">
            <a:avLst/>
          </a:prstGeom>
          <a:solidFill>
            <a:srgbClr val="CBD5CC"/>
          </a:solidFill>
          <a:ln/>
        </p:spPr>
      </p:sp>
      <p:sp>
        <p:nvSpPr>
          <p:cNvPr id="35" name="Text 32"/>
          <p:cNvSpPr/>
          <p:nvPr/>
        </p:nvSpPr>
        <p:spPr>
          <a:xfrm>
            <a:off x="7486873" y="3867150"/>
            <a:ext cx="5062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 A</a:t>
            </a:r>
            <a:endParaRPr lang="en-US" sz="1125" dirty="0"/>
          </a:p>
        </p:txBody>
      </p:sp>
      <p:sp>
        <p:nvSpPr>
          <p:cNvPr id="36" name="Shape 33"/>
          <p:cNvSpPr/>
          <p:nvPr/>
        </p:nvSpPr>
        <p:spPr>
          <a:xfrm>
            <a:off x="8145512" y="3948112"/>
            <a:ext cx="190500" cy="28575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37" name="Text 34"/>
          <p:cNvSpPr/>
          <p:nvPr/>
        </p:nvSpPr>
        <p:spPr>
          <a:xfrm>
            <a:off x="8402687" y="3867150"/>
            <a:ext cx="495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 B</a:t>
            </a:r>
            <a:endParaRPr lang="en-US" sz="1125" dirty="0"/>
          </a:p>
        </p:txBody>
      </p:sp>
      <p:sp>
        <p:nvSpPr>
          <p:cNvPr id="38" name="Shape 35"/>
          <p:cNvSpPr/>
          <p:nvPr/>
        </p:nvSpPr>
        <p:spPr>
          <a:xfrm>
            <a:off x="9050685" y="3948112"/>
            <a:ext cx="190500" cy="28575"/>
          </a:xfrm>
          <a:prstGeom prst="rect">
            <a:avLst/>
          </a:prstGeom>
          <a:solidFill>
            <a:srgbClr val="4E9A2F"/>
          </a:solidFill>
          <a:ln/>
        </p:spPr>
      </p:sp>
      <p:sp>
        <p:nvSpPr>
          <p:cNvPr id="39" name="Text 36"/>
          <p:cNvSpPr/>
          <p:nvPr/>
        </p:nvSpPr>
        <p:spPr>
          <a:xfrm>
            <a:off x="9307860" y="3867150"/>
            <a:ext cx="502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 C</a:t>
            </a:r>
            <a:endParaRPr lang="en-US" sz="1125" dirty="0"/>
          </a:p>
        </p:txBody>
      </p:sp>
      <p:sp>
        <p:nvSpPr>
          <p:cNvPr id="40" name="Text 37"/>
          <p:cNvSpPr/>
          <p:nvPr/>
        </p:nvSpPr>
        <p:spPr>
          <a:xfrm>
            <a:off x="988070" y="4105275"/>
            <a:ext cx="1549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F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988070" y="4448175"/>
            <a:ext cx="1549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F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25" dirty="0"/>
          </a:p>
        </p:txBody>
      </p:sp>
      <p:sp>
        <p:nvSpPr>
          <p:cNvPr id="42" name="Text 39"/>
          <p:cNvSpPr/>
          <p:nvPr/>
        </p:nvSpPr>
        <p:spPr>
          <a:xfrm>
            <a:off x="988070" y="4800600"/>
            <a:ext cx="1549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F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25" dirty="0"/>
          </a:p>
        </p:txBody>
      </p:sp>
      <p:sp>
        <p:nvSpPr>
          <p:cNvPr id="43" name="Text 40"/>
          <p:cNvSpPr/>
          <p:nvPr/>
        </p:nvSpPr>
        <p:spPr>
          <a:xfrm>
            <a:off x="988070" y="5143500"/>
            <a:ext cx="1549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F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25" dirty="0"/>
          </a:p>
        </p:txBody>
      </p:sp>
      <p:sp>
        <p:nvSpPr>
          <p:cNvPr id="44" name="Text 41"/>
          <p:cNvSpPr/>
          <p:nvPr/>
        </p:nvSpPr>
        <p:spPr>
          <a:xfrm>
            <a:off x="988070" y="5495925"/>
            <a:ext cx="1549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F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25" dirty="0"/>
          </a:p>
        </p:txBody>
      </p:sp>
      <p:sp>
        <p:nvSpPr>
          <p:cNvPr id="45" name="Text 42"/>
          <p:cNvSpPr/>
          <p:nvPr/>
        </p:nvSpPr>
        <p:spPr>
          <a:xfrm>
            <a:off x="988070" y="5848350"/>
            <a:ext cx="1549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F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25" dirty="0"/>
          </a:p>
        </p:txBody>
      </p:sp>
      <p:sp>
        <p:nvSpPr>
          <p:cNvPr id="46" name="Text 43"/>
          <p:cNvSpPr/>
          <p:nvPr/>
        </p:nvSpPr>
        <p:spPr>
          <a:xfrm>
            <a:off x="988070" y="6200775"/>
            <a:ext cx="1549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F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125" dirty="0"/>
          </a:p>
        </p:txBody>
      </p:sp>
      <p:sp>
        <p:nvSpPr>
          <p:cNvPr id="47" name="Shape 44"/>
          <p:cNvSpPr/>
          <p:nvPr/>
        </p:nvSpPr>
        <p:spPr>
          <a:xfrm>
            <a:off x="1162050" y="6286500"/>
            <a:ext cx="8572500" cy="190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050" y="4191000"/>
            <a:ext cx="8572500" cy="2095500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1054894" y="6362700"/>
            <a:ext cx="23574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1분기</a:t>
            </a:r>
            <a:endParaRPr lang="en-US" sz="1125" dirty="0"/>
          </a:p>
        </p:txBody>
      </p:sp>
      <p:sp>
        <p:nvSpPr>
          <p:cNvPr id="50" name="Text 46"/>
          <p:cNvSpPr/>
          <p:nvPr/>
        </p:nvSpPr>
        <p:spPr>
          <a:xfrm>
            <a:off x="3198019" y="6362700"/>
            <a:ext cx="23574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2분기</a:t>
            </a:r>
            <a:endParaRPr lang="en-US" sz="1125" dirty="0"/>
          </a:p>
        </p:txBody>
      </p:sp>
      <p:sp>
        <p:nvSpPr>
          <p:cNvPr id="51" name="Text 47"/>
          <p:cNvSpPr/>
          <p:nvPr/>
        </p:nvSpPr>
        <p:spPr>
          <a:xfrm>
            <a:off x="5341144" y="6362700"/>
            <a:ext cx="23574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3분기</a:t>
            </a:r>
            <a:endParaRPr lang="en-US" sz="1125" dirty="0"/>
          </a:p>
        </p:txBody>
      </p:sp>
      <p:sp>
        <p:nvSpPr>
          <p:cNvPr id="52" name="Text 48"/>
          <p:cNvSpPr/>
          <p:nvPr/>
        </p:nvSpPr>
        <p:spPr>
          <a:xfrm>
            <a:off x="7484269" y="6362700"/>
            <a:ext cx="23574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4분기</a:t>
            </a:r>
            <a:endParaRPr lang="en-US" sz="1125" dirty="0"/>
          </a:p>
        </p:txBody>
      </p:sp>
      <p:sp>
        <p:nvSpPr>
          <p:cNvPr id="53" name="Text 49"/>
          <p:cNvSpPr/>
          <p:nvPr/>
        </p:nvSpPr>
        <p:spPr>
          <a:xfrm>
            <a:off x="1162050" y="7143750"/>
            <a:ext cx="354319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A66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억원 · 자료: ○○○ 집계 · YYYY.MM.DD 기준</a:t>
            </a:r>
            <a:endParaRPr lang="en-US" sz="1125" dirty="0"/>
          </a:p>
        </p:txBody>
      </p:sp>
      <p:sp>
        <p:nvSpPr>
          <p:cNvPr id="54" name="Text 50"/>
          <p:cNvSpPr/>
          <p:nvPr/>
        </p:nvSpPr>
        <p:spPr>
          <a:xfrm>
            <a:off x="9957197" y="7110413"/>
            <a:ext cx="24407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75" y="190500"/>
            <a:ext cx="419100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7650" y="952500"/>
            <a:ext cx="10201275" cy="9525"/>
          </a:xfrm>
          <a:prstGeom prst="rect">
            <a:avLst/>
          </a:prstGeom>
          <a:solidFill>
            <a:srgbClr val="14362D"/>
          </a:solidFill>
          <a:ln/>
        </p:spPr>
      </p:sp>
      <p:sp>
        <p:nvSpPr>
          <p:cNvPr id="4" name="Text 1"/>
          <p:cNvSpPr/>
          <p:nvPr/>
        </p:nvSpPr>
        <p:spPr>
          <a:xfrm>
            <a:off x="438150" y="247650"/>
            <a:ext cx="7848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[별첨] KPI 정의서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591550" y="323850"/>
            <a:ext cx="809625" cy="381000"/>
          </a:xfrm>
          <a:prstGeom prst="roundRect">
            <a:avLst>
              <a:gd name="adj" fmla="val 50000"/>
            </a:avLst>
          </a:prstGeom>
          <a:ln w="9525">
            <a:solidFill>
              <a:srgbClr val="1436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2975" y="333375"/>
            <a:ext cx="86677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</a:t>
            </a:r>
            <a:endParaRPr lang="en-US" sz="1275" dirty="0"/>
          </a:p>
        </p:txBody>
      </p:sp>
      <p:sp>
        <p:nvSpPr>
          <p:cNvPr id="7" name="Shape 4"/>
          <p:cNvSpPr/>
          <p:nvPr/>
        </p:nvSpPr>
        <p:spPr>
          <a:xfrm>
            <a:off x="914400" y="1371600"/>
            <a:ext cx="8848725" cy="404813"/>
          </a:xfrm>
          <a:prstGeom prst="rect">
            <a:avLst/>
          </a:prstGeom>
          <a:solidFill>
            <a:srgbClr val="215732"/>
          </a:solidFill>
          <a:ln/>
        </p:spPr>
      </p:sp>
      <p:sp>
        <p:nvSpPr>
          <p:cNvPr id="8" name="Shape 5"/>
          <p:cNvSpPr/>
          <p:nvPr/>
        </p:nvSpPr>
        <p:spPr>
          <a:xfrm>
            <a:off x="2590800" y="1371600"/>
            <a:ext cx="9525" cy="404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933450" y="1466850"/>
            <a:ext cx="1638300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명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5686425" y="1371600"/>
            <a:ext cx="9525" cy="404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2611041" y="1466850"/>
            <a:ext cx="3064669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정의</a:t>
            </a:r>
            <a:endParaRPr lang="en-US" sz="1275" dirty="0"/>
          </a:p>
        </p:txBody>
      </p:sp>
      <p:sp>
        <p:nvSpPr>
          <p:cNvPr id="12" name="Shape 9"/>
          <p:cNvSpPr/>
          <p:nvPr/>
        </p:nvSpPr>
        <p:spPr>
          <a:xfrm>
            <a:off x="8820150" y="1371600"/>
            <a:ext cx="9525" cy="404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5706094" y="1466850"/>
            <a:ext cx="3103912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산식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8848725" y="1466850"/>
            <a:ext cx="885825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914400" y="3846909"/>
            <a:ext cx="88487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6" name="Shape 13"/>
          <p:cNvSpPr/>
          <p:nvPr/>
        </p:nvSpPr>
        <p:spPr>
          <a:xfrm>
            <a:off x="914400" y="1776413"/>
            <a:ext cx="9525" cy="208002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7" name="Shape 14"/>
          <p:cNvSpPr/>
          <p:nvPr/>
        </p:nvSpPr>
        <p:spPr>
          <a:xfrm>
            <a:off x="9753600" y="1776413"/>
            <a:ext cx="9525" cy="208002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Shape 15"/>
          <p:cNvSpPr/>
          <p:nvPr/>
        </p:nvSpPr>
        <p:spPr>
          <a:xfrm>
            <a:off x="923925" y="2286893"/>
            <a:ext cx="16859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9" name="Shape 16"/>
          <p:cNvSpPr/>
          <p:nvPr/>
        </p:nvSpPr>
        <p:spPr>
          <a:xfrm>
            <a:off x="2600325" y="1776413"/>
            <a:ext cx="9525" cy="52000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Text 17"/>
          <p:cNvSpPr/>
          <p:nvPr/>
        </p:nvSpPr>
        <p:spPr>
          <a:xfrm>
            <a:off x="1019175" y="1909762"/>
            <a:ext cx="1562100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매출액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609850" y="2286893"/>
            <a:ext cx="30956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2" name="Shape 19"/>
          <p:cNvSpPr/>
          <p:nvPr/>
        </p:nvSpPr>
        <p:spPr>
          <a:xfrm>
            <a:off x="5695950" y="1776413"/>
            <a:ext cx="9525" cy="52000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3" name="Text 20"/>
          <p:cNvSpPr/>
          <p:nvPr/>
        </p:nvSpPr>
        <p:spPr>
          <a:xfrm>
            <a:off x="2724150" y="1909762"/>
            <a:ext cx="295036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회계연도 내 사업 매출 총액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705475" y="2286893"/>
            <a:ext cx="31337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Shape 22"/>
          <p:cNvSpPr/>
          <p:nvPr/>
        </p:nvSpPr>
        <p:spPr>
          <a:xfrm>
            <a:off x="8829675" y="1776413"/>
            <a:ext cx="9525" cy="52000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6" name="Text 23"/>
          <p:cNvSpPr/>
          <p:nvPr/>
        </p:nvSpPr>
        <p:spPr>
          <a:xfrm>
            <a:off x="5819775" y="1909762"/>
            <a:ext cx="2989612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사업별 매출액의 합계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39200" y="2286893"/>
            <a:ext cx="9239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8" name="Shape 25"/>
          <p:cNvSpPr/>
          <p:nvPr/>
        </p:nvSpPr>
        <p:spPr>
          <a:xfrm>
            <a:off x="923925" y="2806898"/>
            <a:ext cx="16859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Shape 26"/>
          <p:cNvSpPr/>
          <p:nvPr/>
        </p:nvSpPr>
        <p:spPr>
          <a:xfrm>
            <a:off x="2600325" y="2296418"/>
            <a:ext cx="9525" cy="52000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0" name="Text 27"/>
          <p:cNvSpPr/>
          <p:nvPr/>
        </p:nvSpPr>
        <p:spPr>
          <a:xfrm>
            <a:off x="1019175" y="2429768"/>
            <a:ext cx="1562100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609850" y="2806898"/>
            <a:ext cx="30956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2" name="Shape 29"/>
          <p:cNvSpPr/>
          <p:nvPr/>
        </p:nvSpPr>
        <p:spPr>
          <a:xfrm>
            <a:off x="5695950" y="2296418"/>
            <a:ext cx="9525" cy="52000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3" name="Text 30"/>
          <p:cNvSpPr/>
          <p:nvPr/>
        </p:nvSpPr>
        <p:spPr>
          <a:xfrm>
            <a:off x="2724150" y="2429768"/>
            <a:ext cx="295036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매출에서 매출원가와 판관비를 뺀 이익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705475" y="2806898"/>
            <a:ext cx="31337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5" name="Shape 32"/>
          <p:cNvSpPr/>
          <p:nvPr/>
        </p:nvSpPr>
        <p:spPr>
          <a:xfrm>
            <a:off x="8829675" y="2296418"/>
            <a:ext cx="9525" cy="52000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6" name="Text 33"/>
          <p:cNvSpPr/>
          <p:nvPr/>
        </p:nvSpPr>
        <p:spPr>
          <a:xfrm>
            <a:off x="5819775" y="2429768"/>
            <a:ext cx="2989612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매출액 − 매출원가 − 판매관리비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839200" y="2806898"/>
            <a:ext cx="9239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8" name="Shape 35"/>
          <p:cNvSpPr/>
          <p:nvPr/>
        </p:nvSpPr>
        <p:spPr>
          <a:xfrm>
            <a:off x="923925" y="3326904"/>
            <a:ext cx="16859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9" name="Shape 36"/>
          <p:cNvSpPr/>
          <p:nvPr/>
        </p:nvSpPr>
        <p:spPr>
          <a:xfrm>
            <a:off x="2600325" y="2816423"/>
            <a:ext cx="9525" cy="52000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0" name="Text 37"/>
          <p:cNvSpPr/>
          <p:nvPr/>
        </p:nvSpPr>
        <p:spPr>
          <a:xfrm>
            <a:off x="1019175" y="2949773"/>
            <a:ext cx="1562100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참가팀 수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2609850" y="3326904"/>
            <a:ext cx="30956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2" name="Shape 39"/>
          <p:cNvSpPr/>
          <p:nvPr/>
        </p:nvSpPr>
        <p:spPr>
          <a:xfrm>
            <a:off x="5695950" y="2816423"/>
            <a:ext cx="9525" cy="52000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3" name="Text 40"/>
          <p:cNvSpPr/>
          <p:nvPr/>
        </p:nvSpPr>
        <p:spPr>
          <a:xfrm>
            <a:off x="2724150" y="2949773"/>
            <a:ext cx="295036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대회에 등록을 완료한 팀 수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705475" y="3326904"/>
            <a:ext cx="31337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5" name="Shape 42"/>
          <p:cNvSpPr/>
          <p:nvPr/>
        </p:nvSpPr>
        <p:spPr>
          <a:xfrm>
            <a:off x="8829675" y="2816423"/>
            <a:ext cx="9525" cy="52000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6" name="Text 43"/>
          <p:cNvSpPr/>
          <p:nvPr/>
        </p:nvSpPr>
        <p:spPr>
          <a:xfrm>
            <a:off x="5819775" y="2949773"/>
            <a:ext cx="2989612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완료 팀의 단순 합계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8839200" y="3326904"/>
            <a:ext cx="923925" cy="9525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8" name="Shape 45"/>
          <p:cNvSpPr/>
          <p:nvPr/>
        </p:nvSpPr>
        <p:spPr>
          <a:xfrm>
            <a:off x="2600325" y="3336429"/>
            <a:ext cx="9525" cy="51048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9" name="Text 46"/>
          <p:cNvSpPr/>
          <p:nvPr/>
        </p:nvSpPr>
        <p:spPr>
          <a:xfrm>
            <a:off x="1019175" y="3469779"/>
            <a:ext cx="1562100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만족도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695950" y="3336429"/>
            <a:ext cx="9525" cy="51048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1" name="Text 48"/>
          <p:cNvSpPr/>
          <p:nvPr/>
        </p:nvSpPr>
        <p:spPr>
          <a:xfrm>
            <a:off x="2724150" y="3469779"/>
            <a:ext cx="295036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설문의 5점 척도 평균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8829675" y="3336429"/>
            <a:ext cx="9525" cy="51048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3" name="Text 50"/>
          <p:cNvSpPr/>
          <p:nvPr/>
        </p:nvSpPr>
        <p:spPr>
          <a:xfrm>
            <a:off x="5819775" y="3469779"/>
            <a:ext cx="2989612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7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문항별 응답 점수 합계 ÷ 응답 수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2590800" y="5334000"/>
            <a:ext cx="5160455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14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선정한 KPI에 대한 정의와 산식을 기입합니다. 예) KPI가 매출이익이면 산식은 매출액 − 매출원가.</a:t>
            </a:r>
            <a:endParaRPr lang="en-US" sz="1425" dirty="0"/>
          </a:p>
        </p:txBody>
      </p:sp>
      <p:sp>
        <p:nvSpPr>
          <p:cNvPr id="55" name="Text 52"/>
          <p:cNvSpPr/>
          <p:nvPr/>
        </p:nvSpPr>
        <p:spPr>
          <a:xfrm>
            <a:off x="9957197" y="7110413"/>
            <a:ext cx="24407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" y="2886075"/>
            <a:ext cx="10496550" cy="45910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314325"/>
            <a:ext cx="638175" cy="1238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52425" y="1962150"/>
            <a:ext cx="942975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68"/>
              </a:lnSpc>
              <a:buNone/>
            </a:pPr>
            <a:r>
              <a:rPr lang="en-US" sz="3600" b="1" spc="-72" kern="0" dirty="0">
                <a:solidFill>
                  <a:srgbClr val="1436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서비스기획부 BSC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361950" y="2647950"/>
            <a:ext cx="818292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F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한국일보 ㅣ 플랫폼개발부문 ㅣ 한규민</a:t>
            </a:r>
            <a:endParaRPr lang="en-US" sz="12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9650" y="2628900"/>
            <a:ext cx="1009650" cy="1952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2026-07-31T04:58:00Z</dcterms:created>
  <dcterms:modified xsi:type="dcterms:W3CDTF">2026-07-31T04:58:00Z</dcterms:modified>
</cp:coreProperties>
</file>